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4138" r:id="rId2"/>
    <p:sldId id="4139" r:id="rId3"/>
    <p:sldId id="4140" r:id="rId4"/>
    <p:sldId id="4148" r:id="rId5"/>
    <p:sldId id="4142" r:id="rId6"/>
    <p:sldId id="4144" r:id="rId7"/>
    <p:sldId id="4147" r:id="rId8"/>
    <p:sldId id="4150" r:id="rId9"/>
    <p:sldId id="4151" r:id="rId10"/>
    <p:sldId id="4152" r:id="rId11"/>
    <p:sldId id="4153" r:id="rId12"/>
    <p:sldId id="4154" r:id="rId13"/>
    <p:sldId id="4155" r:id="rId14"/>
    <p:sldId id="415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E-Retailer Engagement System" id="{0FD159A9-9B2B-494C-82F0-6F958F2A364E}">
          <p14:sldIdLst>
            <p14:sldId id="4138"/>
            <p14:sldId id="4139"/>
            <p14:sldId id="4140"/>
            <p14:sldId id="4148"/>
            <p14:sldId id="4142"/>
            <p14:sldId id="4144"/>
            <p14:sldId id="4147"/>
          </p14:sldIdLst>
        </p14:section>
        <p14:section name="Market Discovery System" id="{9D7FD51A-933E-48C9-961B-B0ABA87F7328}">
          <p14:sldIdLst>
            <p14:sldId id="4150"/>
            <p14:sldId id="4151"/>
            <p14:sldId id="4152"/>
            <p14:sldId id="4153"/>
            <p14:sldId id="4154"/>
            <p14:sldId id="4155"/>
            <p14:sldId id="415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B737D7-36FD-4667-AF58-F37FDF9BE757}" v="42" dt="2026-08-29T05:27:13.7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252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nath V" userId="82bbc52c-1b25-4f88-8253-e89ffb3d0e4a" providerId="ADAL" clId="{55552459-480F-46B5-BC92-27660734CA65}"/>
    <pc:docChg chg="addSld delSld modSld">
      <pc:chgData name="Srinath V" userId="82bbc52c-1b25-4f88-8253-e89ffb3d0e4a" providerId="ADAL" clId="{55552459-480F-46B5-BC92-27660734CA65}" dt="2026-08-29T05:28:17.209" v="47"/>
      <pc:docMkLst>
        <pc:docMk/>
      </pc:docMkLst>
      <pc:sldChg chg="addSp delSp modSp">
        <pc:chgData name="Srinath V" userId="82bbc52c-1b25-4f88-8253-e89ffb3d0e4a" providerId="ADAL" clId="{55552459-480F-46B5-BC92-27660734CA65}" dt="2026-08-28T08:41:05.529" v="27"/>
        <pc:sldMkLst>
          <pc:docMk/>
          <pc:sldMk cId="4173790226" sldId="4139"/>
        </pc:sldMkLst>
        <pc:spChg chg="add del mod">
          <ac:chgData name="Srinath V" userId="82bbc52c-1b25-4f88-8253-e89ffb3d0e4a" providerId="ADAL" clId="{55552459-480F-46B5-BC92-27660734CA65}" dt="2026-08-28T06:12:36.972" v="10"/>
          <ac:spMkLst>
            <pc:docMk/>
            <pc:sldMk cId="4173790226" sldId="4139"/>
            <ac:spMk id="3" creationId="{D6C87722-758C-5AAD-201E-4BEF2605E493}"/>
          </ac:spMkLst>
        </pc:spChg>
        <pc:spChg chg="mod">
          <ac:chgData name="Srinath V" userId="82bbc52c-1b25-4f88-8253-e89ffb3d0e4a" providerId="ADAL" clId="{55552459-480F-46B5-BC92-27660734CA65}" dt="2026-08-28T08:41:05.529" v="27"/>
          <ac:spMkLst>
            <pc:docMk/>
            <pc:sldMk cId="4173790226" sldId="4139"/>
            <ac:spMk id="6" creationId="{3CDF28FC-5BDC-E567-7848-58BF3CA00C30}"/>
          </ac:spMkLst>
        </pc:spChg>
      </pc:sldChg>
      <pc:sldChg chg="modSp">
        <pc:chgData name="Srinath V" userId="82bbc52c-1b25-4f88-8253-e89ffb3d0e4a" providerId="ADAL" clId="{55552459-480F-46B5-BC92-27660734CA65}" dt="2026-08-28T08:41:16.663" v="28"/>
        <pc:sldMkLst>
          <pc:docMk/>
          <pc:sldMk cId="4165297902" sldId="4140"/>
        </pc:sldMkLst>
        <pc:spChg chg="mod">
          <ac:chgData name="Srinath V" userId="82bbc52c-1b25-4f88-8253-e89ffb3d0e4a" providerId="ADAL" clId="{55552459-480F-46B5-BC92-27660734CA65}" dt="2026-08-28T08:41:16.663" v="28"/>
          <ac:spMkLst>
            <pc:docMk/>
            <pc:sldMk cId="4165297902" sldId="4140"/>
            <ac:spMk id="4" creationId="{BF0446FD-EA08-4B53-E851-BB53B25F01D2}"/>
          </ac:spMkLst>
        </pc:spChg>
      </pc:sldChg>
      <pc:sldChg chg="modSp">
        <pc:chgData name="Srinath V" userId="82bbc52c-1b25-4f88-8253-e89ffb3d0e4a" providerId="ADAL" clId="{55552459-480F-46B5-BC92-27660734CA65}" dt="2026-08-28T08:41:36.023" v="30"/>
        <pc:sldMkLst>
          <pc:docMk/>
          <pc:sldMk cId="3928706187" sldId="4142"/>
        </pc:sldMkLst>
        <pc:spChg chg="mod">
          <ac:chgData name="Srinath V" userId="82bbc52c-1b25-4f88-8253-e89ffb3d0e4a" providerId="ADAL" clId="{55552459-480F-46B5-BC92-27660734CA65}" dt="2026-08-28T08:41:36.023" v="30"/>
          <ac:spMkLst>
            <pc:docMk/>
            <pc:sldMk cId="3928706187" sldId="4142"/>
            <ac:spMk id="4" creationId="{94D005F0-D0F9-8C85-1F63-A473EF50F5FE}"/>
          </ac:spMkLst>
        </pc:spChg>
      </pc:sldChg>
      <pc:sldChg chg="modSp">
        <pc:chgData name="Srinath V" userId="82bbc52c-1b25-4f88-8253-e89ffb3d0e4a" providerId="ADAL" clId="{55552459-480F-46B5-BC92-27660734CA65}" dt="2026-08-28T08:41:44.994" v="31"/>
        <pc:sldMkLst>
          <pc:docMk/>
          <pc:sldMk cId="160057291" sldId="4144"/>
        </pc:sldMkLst>
        <pc:spChg chg="mod">
          <ac:chgData name="Srinath V" userId="82bbc52c-1b25-4f88-8253-e89ffb3d0e4a" providerId="ADAL" clId="{55552459-480F-46B5-BC92-27660734CA65}" dt="2026-08-28T08:41:44.994" v="31"/>
          <ac:spMkLst>
            <pc:docMk/>
            <pc:sldMk cId="160057291" sldId="4144"/>
            <ac:spMk id="4" creationId="{4F4DBE7E-6B84-112A-A410-7024A2FCD90E}"/>
          </ac:spMkLst>
        </pc:spChg>
      </pc:sldChg>
      <pc:sldChg chg="modSp">
        <pc:chgData name="Srinath V" userId="82bbc52c-1b25-4f88-8253-e89ffb3d0e4a" providerId="ADAL" clId="{55552459-480F-46B5-BC92-27660734CA65}" dt="2026-08-28T08:41:58.287" v="32"/>
        <pc:sldMkLst>
          <pc:docMk/>
          <pc:sldMk cId="3638287306" sldId="4147"/>
        </pc:sldMkLst>
        <pc:spChg chg="mod">
          <ac:chgData name="Srinath V" userId="82bbc52c-1b25-4f88-8253-e89ffb3d0e4a" providerId="ADAL" clId="{55552459-480F-46B5-BC92-27660734CA65}" dt="2026-08-28T08:41:58.287" v="32"/>
          <ac:spMkLst>
            <pc:docMk/>
            <pc:sldMk cId="3638287306" sldId="4147"/>
            <ac:spMk id="4" creationId="{9FB8188F-4577-F188-6F3A-3566BF5A5E70}"/>
          </ac:spMkLst>
        </pc:spChg>
      </pc:sldChg>
      <pc:sldChg chg="modSp">
        <pc:chgData name="Srinath V" userId="82bbc52c-1b25-4f88-8253-e89ffb3d0e4a" providerId="ADAL" clId="{55552459-480F-46B5-BC92-27660734CA65}" dt="2026-08-28T08:41:25.137" v="29"/>
        <pc:sldMkLst>
          <pc:docMk/>
          <pc:sldMk cId="3991496895" sldId="4148"/>
        </pc:sldMkLst>
        <pc:spChg chg="mod">
          <ac:chgData name="Srinath V" userId="82bbc52c-1b25-4f88-8253-e89ffb3d0e4a" providerId="ADAL" clId="{55552459-480F-46B5-BC92-27660734CA65}" dt="2026-08-28T08:41:25.137" v="29"/>
          <ac:spMkLst>
            <pc:docMk/>
            <pc:sldMk cId="3991496895" sldId="4148"/>
            <ac:spMk id="8" creationId="{92D78E1D-E3ED-EFD1-E1CD-32F0A6F0433D}"/>
          </ac:spMkLst>
        </pc:spChg>
      </pc:sldChg>
      <pc:sldChg chg="add del">
        <pc:chgData name="Srinath V" userId="82bbc52c-1b25-4f88-8253-e89ffb3d0e4a" providerId="ADAL" clId="{55552459-480F-46B5-BC92-27660734CA65}" dt="2026-08-28T06:03:06.938" v="1"/>
        <pc:sldMkLst>
          <pc:docMk/>
          <pc:sldMk cId="32991913" sldId="4150"/>
        </pc:sldMkLst>
      </pc:sldChg>
      <pc:sldChg chg="addSp delSp modSp add">
        <pc:chgData name="Srinath V" userId="82bbc52c-1b25-4f88-8253-e89ffb3d0e4a" providerId="ADAL" clId="{55552459-480F-46B5-BC92-27660734CA65}" dt="2026-08-28T12:05:16.520" v="41"/>
        <pc:sldMkLst>
          <pc:docMk/>
          <pc:sldMk cId="537205131" sldId="4150"/>
        </pc:sldMkLst>
        <pc:spChg chg="mod">
          <ac:chgData name="Srinath V" userId="82bbc52c-1b25-4f88-8253-e89ffb3d0e4a" providerId="ADAL" clId="{55552459-480F-46B5-BC92-27660734CA65}" dt="2026-08-28T12:04:20.671" v="36"/>
          <ac:spMkLst>
            <pc:docMk/>
            <pc:sldMk cId="537205131" sldId="4150"/>
            <ac:spMk id="2" creationId="{8A31AF50-DC59-9DE8-CA04-5966D59DD982}"/>
          </ac:spMkLst>
        </pc:spChg>
        <pc:spChg chg="mod">
          <ac:chgData name="Srinath V" userId="82bbc52c-1b25-4f88-8253-e89ffb3d0e4a" providerId="ADAL" clId="{55552459-480F-46B5-BC92-27660734CA65}" dt="2026-08-28T12:04:28.815" v="37"/>
          <ac:spMkLst>
            <pc:docMk/>
            <pc:sldMk cId="537205131" sldId="4150"/>
            <ac:spMk id="3" creationId="{F286E850-D334-5CD9-A5ED-D0A09C83F5C4}"/>
          </ac:spMkLst>
        </pc:spChg>
        <pc:spChg chg="mod">
          <ac:chgData name="Srinath V" userId="82bbc52c-1b25-4f88-8253-e89ffb3d0e4a" providerId="ADAL" clId="{55552459-480F-46B5-BC92-27660734CA65}" dt="2026-08-28T12:04:44.299" v="38"/>
          <ac:spMkLst>
            <pc:docMk/>
            <pc:sldMk cId="537205131" sldId="4150"/>
            <ac:spMk id="4" creationId="{22779E11-B79C-0691-4F72-687836338D31}"/>
          </ac:spMkLst>
        </pc:spChg>
        <pc:spChg chg="mod">
          <ac:chgData name="Srinath V" userId="82bbc52c-1b25-4f88-8253-e89ffb3d0e4a" providerId="ADAL" clId="{55552459-480F-46B5-BC92-27660734CA65}" dt="2026-08-28T12:04:55.940" v="39"/>
          <ac:spMkLst>
            <pc:docMk/>
            <pc:sldMk cId="537205131" sldId="4150"/>
            <ac:spMk id="15" creationId="{5B6E6462-C3CD-8CBF-E824-93E2B19EBA76}"/>
          </ac:spMkLst>
        </pc:spChg>
        <pc:spChg chg="mod">
          <ac:chgData name="Srinath V" userId="82bbc52c-1b25-4f88-8253-e89ffb3d0e4a" providerId="ADAL" clId="{55552459-480F-46B5-BC92-27660734CA65}" dt="2026-08-28T12:05:16.520" v="41"/>
          <ac:spMkLst>
            <pc:docMk/>
            <pc:sldMk cId="537205131" sldId="4150"/>
            <ac:spMk id="16" creationId="{4A0921AF-CB02-B6CB-B701-5025B382BCEF}"/>
          </ac:spMkLst>
        </pc:spChg>
        <pc:spChg chg="mod">
          <ac:chgData name="Srinath V" userId="82bbc52c-1b25-4f88-8253-e89ffb3d0e4a" providerId="ADAL" clId="{55552459-480F-46B5-BC92-27660734CA65}" dt="2026-08-28T12:05:06.379" v="40"/>
          <ac:spMkLst>
            <pc:docMk/>
            <pc:sldMk cId="537205131" sldId="4150"/>
            <ac:spMk id="17" creationId="{7A694215-A405-EB33-8E24-90AB39B61120}"/>
          </ac:spMkLst>
        </pc:spChg>
        <pc:spChg chg="add del mod">
          <ac:chgData name="Srinath V" userId="82bbc52c-1b25-4f88-8253-e89ffb3d0e4a" providerId="ADAL" clId="{55552459-480F-46B5-BC92-27660734CA65}" dt="2026-08-28T06:04:28.199" v="4"/>
          <ac:spMkLst>
            <pc:docMk/>
            <pc:sldMk cId="537205131" sldId="4150"/>
            <ac:spMk id="18" creationId="{0C1E5002-C7F4-A446-966A-2190CCDD17F9}"/>
          </ac:spMkLst>
        </pc:spChg>
        <pc:spChg chg="mod">
          <ac:chgData name="Srinath V" userId="82bbc52c-1b25-4f88-8253-e89ffb3d0e4a" providerId="ADAL" clId="{55552459-480F-46B5-BC92-27660734CA65}" dt="2026-08-28T07:46:49.224" v="24" actId="571"/>
          <ac:spMkLst>
            <pc:docMk/>
            <pc:sldMk cId="537205131" sldId="4150"/>
            <ac:spMk id="20" creationId="{C13BD86C-18BD-1350-F4D2-90E748963455}"/>
          </ac:spMkLst>
        </pc:spChg>
        <pc:spChg chg="mod">
          <ac:chgData name="Srinath V" userId="82bbc52c-1b25-4f88-8253-e89ffb3d0e4a" providerId="ADAL" clId="{55552459-480F-46B5-BC92-27660734CA65}" dt="2026-08-28T07:46:49.224" v="24" actId="571"/>
          <ac:spMkLst>
            <pc:docMk/>
            <pc:sldMk cId="537205131" sldId="4150"/>
            <ac:spMk id="21" creationId="{114C711C-00EC-3DD0-4F5E-113E5E66B63B}"/>
          </ac:spMkLst>
        </pc:spChg>
        <pc:grpChg chg="add mod">
          <ac:chgData name="Srinath V" userId="82bbc52c-1b25-4f88-8253-e89ffb3d0e4a" providerId="ADAL" clId="{55552459-480F-46B5-BC92-27660734CA65}" dt="2026-08-28T07:46:49.224" v="24" actId="571"/>
          <ac:grpSpMkLst>
            <pc:docMk/>
            <pc:sldMk cId="537205131" sldId="4150"/>
            <ac:grpSpMk id="19" creationId="{30220E82-C96A-EC4D-810B-773EF7B68E3B}"/>
          </ac:grpSpMkLst>
        </pc:grpChg>
      </pc:sldChg>
      <pc:sldChg chg="add del">
        <pc:chgData name="Srinath V" userId="82bbc52c-1b25-4f88-8253-e89ffb3d0e4a" providerId="ADAL" clId="{55552459-480F-46B5-BC92-27660734CA65}" dt="2026-08-28T06:03:06.938" v="1"/>
        <pc:sldMkLst>
          <pc:docMk/>
          <pc:sldMk cId="2986069607" sldId="4151"/>
        </pc:sldMkLst>
      </pc:sldChg>
      <pc:sldChg chg="addSp delSp modSp">
        <pc:chgData name="Srinath V" userId="82bbc52c-1b25-4f88-8253-e89ffb3d0e4a" providerId="ADAL" clId="{55552459-480F-46B5-BC92-27660734CA65}" dt="2026-08-29T05:28:17.209" v="47"/>
        <pc:sldMkLst>
          <pc:docMk/>
          <pc:sldMk cId="3100879900" sldId="4151"/>
        </pc:sldMkLst>
        <pc:spChg chg="add del mod">
          <ac:chgData name="Srinath V" userId="82bbc52c-1b25-4f88-8253-e89ffb3d0e4a" providerId="ADAL" clId="{55552459-480F-46B5-BC92-27660734CA65}" dt="2026-08-28T06:11:07.718" v="6"/>
          <ac:spMkLst>
            <pc:docMk/>
            <pc:sldMk cId="3100879900" sldId="4151"/>
            <ac:spMk id="4" creationId="{16C70EE9-B6E6-4B49-5A4F-DD86B1561073}"/>
          </ac:spMkLst>
        </pc:spChg>
        <pc:spChg chg="add del mod">
          <ac:chgData name="Srinath V" userId="82bbc52c-1b25-4f88-8253-e89ffb3d0e4a" providerId="ADAL" clId="{55552459-480F-46B5-BC92-27660734CA65}" dt="2026-08-28T06:12:25.177" v="8"/>
          <ac:spMkLst>
            <pc:docMk/>
            <pc:sldMk cId="3100879900" sldId="4151"/>
            <ac:spMk id="5" creationId="{008F97DC-88B8-9113-67B8-71B2663FB8DA}"/>
          </ac:spMkLst>
        </pc:spChg>
        <pc:spChg chg="mod">
          <ac:chgData name="Srinath V" userId="82bbc52c-1b25-4f88-8253-e89ffb3d0e4a" providerId="ADAL" clId="{55552459-480F-46B5-BC92-27660734CA65}" dt="2026-08-28T06:13:42.328" v="11"/>
          <ac:spMkLst>
            <pc:docMk/>
            <pc:sldMk cId="3100879900" sldId="4151"/>
            <ac:spMk id="7" creationId="{BD8A3F82-214E-AF0A-BC24-A57664BFD2A6}"/>
          </ac:spMkLst>
        </pc:spChg>
        <pc:spChg chg="add del mod">
          <ac:chgData name="Srinath V" userId="82bbc52c-1b25-4f88-8253-e89ffb3d0e4a" providerId="ADAL" clId="{55552459-480F-46B5-BC92-27660734CA65}" dt="2026-08-29T05:27:12.903" v="43"/>
          <ac:spMkLst>
            <pc:docMk/>
            <pc:sldMk cId="3100879900" sldId="4151"/>
            <ac:spMk id="10" creationId="{FDEEAEE0-9265-DF03-0B5E-C817203FCBB1}"/>
          </ac:spMkLst>
        </pc:spChg>
        <pc:spChg chg="add del mod">
          <ac:chgData name="Srinath V" userId="82bbc52c-1b25-4f88-8253-e89ffb3d0e4a" providerId="ADAL" clId="{55552459-480F-46B5-BC92-27660734CA65}" dt="2026-08-29T05:27:13.724" v="45"/>
          <ac:spMkLst>
            <pc:docMk/>
            <pc:sldMk cId="3100879900" sldId="4151"/>
            <ac:spMk id="11" creationId="{0F557CCA-5B30-5087-5E8B-4171539AFE77}"/>
          </ac:spMkLst>
        </pc:spChg>
        <pc:spChg chg="add del mod">
          <ac:chgData name="Srinath V" userId="82bbc52c-1b25-4f88-8253-e89ffb3d0e4a" providerId="ADAL" clId="{55552459-480F-46B5-BC92-27660734CA65}" dt="2026-08-29T05:28:17.209" v="47"/>
          <ac:spMkLst>
            <pc:docMk/>
            <pc:sldMk cId="3100879900" sldId="4151"/>
            <ac:spMk id="12" creationId="{8C24301E-B41B-8939-9CE8-440380F094DD}"/>
          </ac:spMkLst>
        </pc:spChg>
      </pc:sldChg>
      <pc:sldChg chg="add del">
        <pc:chgData name="Srinath V" userId="82bbc52c-1b25-4f88-8253-e89ffb3d0e4a" providerId="ADAL" clId="{55552459-480F-46B5-BC92-27660734CA65}" dt="2026-08-28T06:03:06.938" v="1"/>
        <pc:sldMkLst>
          <pc:docMk/>
          <pc:sldMk cId="62471553" sldId="4152"/>
        </pc:sldMkLst>
      </pc:sldChg>
      <pc:sldChg chg="modSp add">
        <pc:chgData name="Srinath V" userId="82bbc52c-1b25-4f88-8253-e89ffb3d0e4a" providerId="ADAL" clId="{55552459-480F-46B5-BC92-27660734CA65}" dt="2026-08-28T07:53:10.019" v="25"/>
        <pc:sldMkLst>
          <pc:docMk/>
          <pc:sldMk cId="3303729066" sldId="4152"/>
        </pc:sldMkLst>
        <pc:spChg chg="mod">
          <ac:chgData name="Srinath V" userId="82bbc52c-1b25-4f88-8253-e89ffb3d0e4a" providerId="ADAL" clId="{55552459-480F-46B5-BC92-27660734CA65}" dt="2026-08-28T07:53:10.019" v="25"/>
          <ac:spMkLst>
            <pc:docMk/>
            <pc:sldMk cId="3303729066" sldId="4152"/>
            <ac:spMk id="4" creationId="{5B18752B-3656-1B36-32DC-CFDFDF3EA34D}"/>
          </ac:spMkLst>
        </pc:spChg>
      </pc:sldChg>
      <pc:sldChg chg="add del">
        <pc:chgData name="Srinath V" userId="82bbc52c-1b25-4f88-8253-e89ffb3d0e4a" providerId="ADAL" clId="{55552459-480F-46B5-BC92-27660734CA65}" dt="2026-08-28T06:03:06.938" v="1"/>
        <pc:sldMkLst>
          <pc:docMk/>
          <pc:sldMk cId="2013402158" sldId="4153"/>
        </pc:sldMkLst>
      </pc:sldChg>
      <pc:sldChg chg="modSp add">
        <pc:chgData name="Srinath V" userId="82bbc52c-1b25-4f88-8253-e89ffb3d0e4a" providerId="ADAL" clId="{55552459-480F-46B5-BC92-27660734CA65}" dt="2026-08-28T07:02:14.861" v="19"/>
        <pc:sldMkLst>
          <pc:docMk/>
          <pc:sldMk cId="4001940415" sldId="4153"/>
        </pc:sldMkLst>
        <pc:spChg chg="mod">
          <ac:chgData name="Srinath V" userId="82bbc52c-1b25-4f88-8253-e89ffb3d0e4a" providerId="ADAL" clId="{55552459-480F-46B5-BC92-27660734CA65}" dt="2026-08-28T07:02:14.861" v="19"/>
          <ac:spMkLst>
            <pc:docMk/>
            <pc:sldMk cId="4001940415" sldId="4153"/>
            <ac:spMk id="8" creationId="{B78C6F9A-87CF-E3FC-CB49-F54254AC8620}"/>
          </ac:spMkLst>
        </pc:spChg>
      </pc:sldChg>
      <pc:sldChg chg="modSp add">
        <pc:chgData name="Srinath V" userId="82bbc52c-1b25-4f88-8253-e89ffb3d0e4a" providerId="ADAL" clId="{55552459-480F-46B5-BC92-27660734CA65}" dt="2026-08-28T08:51:51.635" v="33"/>
        <pc:sldMkLst>
          <pc:docMk/>
          <pc:sldMk cId="1659158806" sldId="4154"/>
        </pc:sldMkLst>
        <pc:spChg chg="mod">
          <ac:chgData name="Srinath V" userId="82bbc52c-1b25-4f88-8253-e89ffb3d0e4a" providerId="ADAL" clId="{55552459-480F-46B5-BC92-27660734CA65}" dt="2026-08-28T08:51:51.635" v="33"/>
          <ac:spMkLst>
            <pc:docMk/>
            <pc:sldMk cId="1659158806" sldId="4154"/>
            <ac:spMk id="4" creationId="{C712D98E-E173-040E-5C2B-C9FE329E41A9}"/>
          </ac:spMkLst>
        </pc:spChg>
      </pc:sldChg>
      <pc:sldChg chg="add del">
        <pc:chgData name="Srinath V" userId="82bbc52c-1b25-4f88-8253-e89ffb3d0e4a" providerId="ADAL" clId="{55552459-480F-46B5-BC92-27660734CA65}" dt="2026-08-28T06:03:06.938" v="1"/>
        <pc:sldMkLst>
          <pc:docMk/>
          <pc:sldMk cId="2619351776" sldId="4154"/>
        </pc:sldMkLst>
      </pc:sldChg>
      <pc:sldChg chg="add">
        <pc:chgData name="Srinath V" userId="82bbc52c-1b25-4f88-8253-e89ffb3d0e4a" providerId="ADAL" clId="{55552459-480F-46B5-BC92-27660734CA65}" dt="2026-08-28T11:29:37.612" v="34"/>
        <pc:sldMkLst>
          <pc:docMk/>
          <pc:sldMk cId="2076429263" sldId="4155"/>
        </pc:sldMkLst>
      </pc:sldChg>
      <pc:sldChg chg="add del">
        <pc:chgData name="Srinath V" userId="82bbc52c-1b25-4f88-8253-e89ffb3d0e4a" providerId="ADAL" clId="{55552459-480F-46B5-BC92-27660734CA65}" dt="2026-08-28T06:03:06.938" v="1"/>
        <pc:sldMkLst>
          <pc:docMk/>
          <pc:sldMk cId="3645127331" sldId="4155"/>
        </pc:sldMkLst>
      </pc:sldChg>
      <pc:sldChg chg="modSp add">
        <pc:chgData name="Srinath V" userId="82bbc52c-1b25-4f88-8253-e89ffb3d0e4a" providerId="ADAL" clId="{55552459-480F-46B5-BC92-27660734CA65}" dt="2026-08-28T11:52:16.580" v="35"/>
        <pc:sldMkLst>
          <pc:docMk/>
          <pc:sldMk cId="1403874885" sldId="4156"/>
        </pc:sldMkLst>
        <pc:spChg chg="mod">
          <ac:chgData name="Srinath V" userId="82bbc52c-1b25-4f88-8253-e89ffb3d0e4a" providerId="ADAL" clId="{55552459-480F-46B5-BC92-27660734CA65}" dt="2026-08-28T11:52:16.580" v="35"/>
          <ac:spMkLst>
            <pc:docMk/>
            <pc:sldMk cId="1403874885" sldId="4156"/>
            <ac:spMk id="4" creationId="{93D13F2F-97F6-9D8B-C345-41CB009BBC9A}"/>
          </ac:spMkLst>
        </pc:spChg>
      </pc:sldChg>
      <pc:sldChg chg="add del">
        <pc:chgData name="Srinath V" userId="82bbc52c-1b25-4f88-8253-e89ffb3d0e4a" providerId="ADAL" clId="{55552459-480F-46B5-BC92-27660734CA65}" dt="2026-08-28T06:03:06.938" v="1"/>
        <pc:sldMkLst>
          <pc:docMk/>
          <pc:sldMk cId="1974732219" sldId="41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9E101E-DB68-407C-BB14-C29DAABC8672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5FD2C5-815D-4695-9AFD-22AE7771FD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446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5FD2C5-815D-4695-9AFD-22AE7771FD3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737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5FD2C5-815D-4695-9AFD-22AE7771FD3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857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4FAA8-EE1E-5F2E-6BD2-FB3312459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3C3D5-4D77-EEDA-49A8-88A978E3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4FB241-E229-85CF-4FCA-53A24896A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C35A5-EB0C-03FD-82A9-B9B1B9487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5FD2C5-815D-4695-9AFD-22AE7771FD3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299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5FD2C5-815D-4695-9AFD-22AE7771FD3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041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88180-DA3A-AAAC-301F-F390EE7A6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A4B425-DCC6-1D3D-0EAC-F4E257EF4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37531-C02B-B245-0B27-8AF1B9CFF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D296-DEBC-4CD1-AE02-5F443137D11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6B1AE-B1C9-DF8A-96D9-0D1C8E9B0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1F092-A75C-F521-E135-064C22B5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5FC3-B7C7-43BC-8597-9E6CC7855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733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B3B91-4798-3D60-C856-153C895E7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38291-A37C-326B-6CB0-F49109E93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F793B-FBE2-6A54-F4D7-58A7D3E7C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D296-DEBC-4CD1-AE02-5F443137D11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1275B-EF51-67D2-4881-073DD369B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366BE-5062-BDBF-F85D-C12EA24DE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5FC3-B7C7-43BC-8597-9E6CC7855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74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299B4-2035-739C-F38F-9D20CEF07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1BAB7-B4E1-87ED-8E76-59CA649F8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9E232-2F32-4F74-8001-56CE7D00D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D296-DEBC-4CD1-AE02-5F443137D11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7B1B3-2FDB-0BF6-5DEA-65D49CDAD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4F180-80B2-22FA-F939-9A9E5ABDB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5FC3-B7C7-43BC-8597-9E6CC7855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39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3AD6E-1A25-FCBA-AC40-3B702A6C6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EC6F8-B6B1-DAD1-C731-4CBD5B0C1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0D583-B9F5-C25C-100A-C34916E0C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417D4-2197-F9EB-B79D-1B366CB8C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D296-DEBC-4CD1-AE02-5F443137D11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C6DA3-6E43-70D0-DD88-06CC69AFA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6878B-328F-41A4-F130-F7DA6BFBD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5FC3-B7C7-43BC-8597-9E6CC7855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253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FC3F-74F1-E60A-C904-96988C72A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C9D37-9D5D-9520-2ABC-322D89D11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CB98A-9D2E-5BE9-FEE7-205D382FC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9E8E9E-8252-6088-5A16-CD938BCA84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D6D07D-9529-5106-5839-80621E07A6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2610D7-C979-C1CD-BE04-642FE655A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D296-DEBC-4CD1-AE02-5F443137D11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F504BB-CF07-A89A-630F-C00180B37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588E2-5D8D-B3FA-1426-5B499D014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5FC3-B7C7-43BC-8597-9E6CC7855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926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BD174-9BCA-D5D5-9F5D-061E9B745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C659BA-20AD-590F-FB01-ED7548549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D296-DEBC-4CD1-AE02-5F443137D11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79575-C8D6-E5EA-1018-727F7F5B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4FEA2C-9C47-D600-BC1F-7A3E27AAC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5FC3-B7C7-43BC-8597-9E6CC7855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469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4EFDF9-0DBD-5428-5B89-FAD36B209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D296-DEBC-4CD1-AE02-5F443137D11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93EED-1E4B-FE68-9814-0951ACE27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44932-FCC7-8809-7F69-3FB0F5F34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5FC3-B7C7-43BC-8597-9E6CC7855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480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0DABB-758D-F8D1-8D64-86CCBDD6A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720EB-E3E4-C8FB-FF2A-4B0884BDA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93B85-2FDB-2E38-4BD3-4C590CD65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5AFDA-3176-385B-6270-8BDDA268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D296-DEBC-4CD1-AE02-5F443137D11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2DFAF-4C5F-23A1-9E5A-A04F6D037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FE744-2DAD-8314-3222-0E52E61FA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5FC3-B7C7-43BC-8597-9E6CC7855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2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FB87D-5766-7E14-D5CB-C3376EAFA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20D1A7-0964-E8E6-D758-318CAB3E94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F3D471-2ED6-8D45-BDD9-F9103AFFC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DAA841-FCE5-4D07-93B2-B28BEDDB9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D296-DEBC-4CD1-AE02-5F443137D11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CAB15-F6AE-7837-4FF1-8BBD307E8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B66C0-6ABD-C922-AEB2-18789E583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5FC3-B7C7-43BC-8597-9E6CC7855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125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60DF9-871E-222E-FFF0-37E53220B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39D0F-9288-8250-53E8-6226C8B93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19B96-C588-D073-109F-F664A8C06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D296-DEBC-4CD1-AE02-5F443137D11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DDEFC-FECE-BA6F-0F32-330E94223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4EB52-1A85-2F14-FAE8-BA558D044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5FC3-B7C7-43BC-8597-9E6CC7855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444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B60512-7050-6FF2-FF55-F0E85EF74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0C50FC-2D5A-8CD3-39DA-638DD2AA0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F37C5-4403-8042-4FE6-93FCC6586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D296-DEBC-4CD1-AE02-5F443137D11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5C966-0AE9-0E4C-8130-87A20C0BC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03012-66A9-2BAD-B956-FBF8AA39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5FC3-B7C7-43BC-8597-9E6CC7855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254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B8528B-B741-B907-ADB6-94784AD93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3B8F6-16CE-E414-C6E2-FE7D72557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9F7DA-EC96-6F7C-313A-936039C9C5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DED296-DEBC-4CD1-AE02-5F443137D11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B137D-BFE5-1D89-11D0-9AF72976CB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D2362-FBFB-98AF-A129-027A0B8C2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785FC3-B7C7-43BC-8597-9E6CC7855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658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1.svg"/><Relationship Id="rId7" Type="http://schemas.openxmlformats.org/officeDocument/2006/relationships/slide" Target="slide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slide" Target="slide2.xml"/><Relationship Id="rId9" Type="http://schemas.openxmlformats.org/officeDocument/2006/relationships/slide" Target="slide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jk-retailer-engagement-system.lovable.app/me/are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jk-retailer-engagement-system.lovable.app/asm" TargetMode="External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jk-retailer-engagement-system.lovable.app/leadership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6.png"/><Relationship Id="rId4" Type="http://schemas.openxmlformats.org/officeDocument/2006/relationships/hyperlink" Target="https://jk-retailer-engagement-system.lovable.app/leadership/targetin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image" Target="../media/image1.svg"/><Relationship Id="rId7" Type="http://schemas.openxmlformats.org/officeDocument/2006/relationships/slide" Target="slide1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slide" Target="slide10.xml"/><Relationship Id="rId4" Type="http://schemas.openxmlformats.org/officeDocument/2006/relationships/slide" Target="slide9.xml"/><Relationship Id="rId9" Type="http://schemas.openxmlformats.org/officeDocument/2006/relationships/slide" Target="slide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9A0D4D-B402-81E4-9BEF-D5DB9AAC7F5B}"/>
              </a:ext>
            </a:extLst>
          </p:cNvPr>
          <p:cNvSpPr txBox="1"/>
          <p:nvPr/>
        </p:nvSpPr>
        <p:spPr>
          <a:xfrm>
            <a:off x="555078" y="553533"/>
            <a:ext cx="898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latin typeface="Swis721 BT" panose="020B0504020202020204" pitchFamily="34" charset="0"/>
              </a:rPr>
              <a:t>The ME-Retailer Engagement System has 6 components: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F2DCB73-EE1E-CE10-BE12-CFDBC2F25BB8}"/>
              </a:ext>
            </a:extLst>
          </p:cNvPr>
          <p:cNvSpPr txBox="1"/>
          <p:nvPr/>
        </p:nvSpPr>
        <p:spPr>
          <a:xfrm>
            <a:off x="10336425" y="3126687"/>
            <a:ext cx="17850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>
                <a:latin typeface="Swis721 BT" panose="020B0504020202020204" pitchFamily="34" charset="0"/>
              </a:rPr>
              <a:t>Continuous Evolution </a:t>
            </a:r>
            <a:br>
              <a:rPr lang="en-IN" b="1">
                <a:latin typeface="Swis721 BT" panose="020B0504020202020204" pitchFamily="34" charset="0"/>
              </a:rPr>
            </a:br>
            <a:r>
              <a:rPr lang="en-IN" sz="1200" b="1">
                <a:latin typeface="Swis721 BT" panose="020B0504020202020204" pitchFamily="34" charset="0"/>
              </a:rPr>
              <a:t>(Ongoing Improvement Layer)</a:t>
            </a:r>
            <a:endParaRPr lang="en-IN" sz="1600" b="1">
              <a:latin typeface="Swis721 BT" panose="020B0504020202020204" pitchFamily="34" charset="0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7BB17DA-F9FF-3F0D-A31A-576A58D1461F}"/>
              </a:ext>
            </a:extLst>
          </p:cNvPr>
          <p:cNvSpPr/>
          <p:nvPr/>
        </p:nvSpPr>
        <p:spPr>
          <a:xfrm>
            <a:off x="10216322" y="3185822"/>
            <a:ext cx="235536" cy="2355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ysClr val="windowText" lastClr="000000"/>
                </a:solidFill>
                <a:latin typeface="Swis721 BT" panose="020B0504020202020204" pitchFamily="34" charset="0"/>
              </a:rPr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A8D80B-B5A4-CF18-40A8-37880930A36C}"/>
              </a:ext>
            </a:extLst>
          </p:cNvPr>
          <p:cNvSpPr txBox="1"/>
          <p:nvPr/>
        </p:nvSpPr>
        <p:spPr>
          <a:xfrm>
            <a:off x="1095973" y="3139530"/>
            <a:ext cx="925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>
                <a:latin typeface="Swis721 BT" panose="020B0504020202020204" pitchFamily="34" charset="0"/>
              </a:rPr>
              <a:t>ME App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ABFF74-A6A4-A3DF-BF72-B35948260B18}"/>
              </a:ext>
            </a:extLst>
          </p:cNvPr>
          <p:cNvSpPr/>
          <p:nvPr/>
        </p:nvSpPr>
        <p:spPr>
          <a:xfrm>
            <a:off x="1211709" y="3512970"/>
            <a:ext cx="694413" cy="114373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Swis721 BT" panose="020B05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D9F15DC-BA09-28DD-14F0-DB1F7304CA32}"/>
              </a:ext>
            </a:extLst>
          </p:cNvPr>
          <p:cNvGrpSpPr>
            <a:grpSpLocks/>
          </p:cNvGrpSpPr>
          <p:nvPr/>
        </p:nvGrpSpPr>
        <p:grpSpPr bwMode="auto">
          <a:xfrm>
            <a:off x="713598" y="3902202"/>
            <a:ext cx="182296" cy="315314"/>
            <a:chOff x="296412" y="281611"/>
            <a:chExt cx="400104" cy="738644"/>
          </a:xfrm>
          <a:solidFill>
            <a:schemeClr val="bg1">
              <a:lumMod val="65000"/>
            </a:schemeClr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2DA52C9-CDA9-4AC6-0B8C-AA909AA6ED5B}"/>
                </a:ext>
              </a:extLst>
            </p:cNvPr>
            <p:cNvSpPr/>
            <p:nvPr/>
          </p:nvSpPr>
          <p:spPr>
            <a:xfrm>
              <a:off x="359491" y="281611"/>
              <a:ext cx="273945" cy="275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Swis721 BT" panose="020B0504020202020204" pitchFamily="34" charset="0"/>
              </a:endParaRPr>
            </a:p>
          </p:txBody>
        </p:sp>
        <p:sp>
          <p:nvSpPr>
            <p:cNvPr id="10" name="Flowchart: Delay 9">
              <a:extLst>
                <a:ext uri="{FF2B5EF4-FFF2-40B4-BE49-F238E27FC236}">
                  <a16:creationId xmlns:a16="http://schemas.microsoft.com/office/drawing/2014/main" id="{7E6D04D8-00D3-83B3-6A19-3283FC184491}"/>
                </a:ext>
              </a:extLst>
            </p:cNvPr>
            <p:cNvSpPr/>
            <p:nvPr/>
          </p:nvSpPr>
          <p:spPr>
            <a:xfrm rot="16200000">
              <a:off x="329915" y="570132"/>
              <a:ext cx="329493" cy="295572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Swis721 BT" panose="020B0504020202020204" pitchFamily="34" charset="0"/>
              </a:endParaRPr>
            </a:p>
          </p:txBody>
        </p:sp>
        <p:grpSp>
          <p:nvGrpSpPr>
            <p:cNvPr id="11" name="Group 126">
              <a:extLst>
                <a:ext uri="{FF2B5EF4-FFF2-40B4-BE49-F238E27FC236}">
                  <a16:creationId xmlns:a16="http://schemas.microsoft.com/office/drawing/2014/main" id="{7060BFDE-AC18-CDD1-C566-97FDD707A550}"/>
                </a:ext>
              </a:extLst>
            </p:cNvPr>
            <p:cNvGrpSpPr/>
            <p:nvPr/>
          </p:nvGrpSpPr>
          <p:grpSpPr>
            <a:xfrm>
              <a:off x="296412" y="615207"/>
              <a:ext cx="400104" cy="405048"/>
              <a:chOff x="1988052" y="4298715"/>
              <a:chExt cx="400104" cy="405048"/>
            </a:xfrm>
            <a:grpFill/>
          </p:grpSpPr>
          <p:sp>
            <p:nvSpPr>
              <p:cNvPr id="12" name="Flowchart: Delay 11">
                <a:extLst>
                  <a:ext uri="{FF2B5EF4-FFF2-40B4-BE49-F238E27FC236}">
                    <a16:creationId xmlns:a16="http://schemas.microsoft.com/office/drawing/2014/main" id="{55593A9D-EAAC-8F85-36E8-60033E63BEEB}"/>
                  </a:ext>
                </a:extLst>
              </p:cNvPr>
              <p:cNvSpPr/>
              <p:nvPr/>
            </p:nvSpPr>
            <p:spPr>
              <a:xfrm rot="16200000">
                <a:off x="2021286" y="4390233"/>
                <a:ext cx="330200" cy="296860"/>
              </a:xfrm>
              <a:prstGeom prst="flowChartDelay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Swis721 BT" panose="020B0504020202020204" pitchFamily="34" charset="0"/>
                </a:endParaRPr>
              </a:p>
            </p:txBody>
          </p:sp>
          <p:sp>
            <p:nvSpPr>
              <p:cNvPr id="13" name="Rounded Rectangle 147">
                <a:extLst>
                  <a:ext uri="{FF2B5EF4-FFF2-40B4-BE49-F238E27FC236}">
                    <a16:creationId xmlns:a16="http://schemas.microsoft.com/office/drawing/2014/main" id="{31A1B563-6450-4FEA-8FCB-B18E1758D4EB}"/>
                  </a:ext>
                </a:extLst>
              </p:cNvPr>
              <p:cNvSpPr/>
              <p:nvPr/>
            </p:nvSpPr>
            <p:spPr>
              <a:xfrm rot="3475501">
                <a:off x="2193530" y="4401210"/>
                <a:ext cx="290772" cy="984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Swis721 BT" panose="020B0504020202020204" pitchFamily="34" charset="0"/>
                </a:endParaRPr>
              </a:p>
            </p:txBody>
          </p:sp>
          <p:sp>
            <p:nvSpPr>
              <p:cNvPr id="14" name="Rounded Rectangle 148">
                <a:extLst>
                  <a:ext uri="{FF2B5EF4-FFF2-40B4-BE49-F238E27FC236}">
                    <a16:creationId xmlns:a16="http://schemas.microsoft.com/office/drawing/2014/main" id="{0D3FDBD0-38DD-50D6-6DCD-A48A7B1E7FF9}"/>
                  </a:ext>
                </a:extLst>
              </p:cNvPr>
              <p:cNvSpPr/>
              <p:nvPr/>
            </p:nvSpPr>
            <p:spPr>
              <a:xfrm rot="18124499" flipV="1">
                <a:off x="1891907" y="4394860"/>
                <a:ext cx="290772" cy="984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Swis721 BT" panose="020B0504020202020204" pitchFamily="34" charset="0"/>
                </a:endParaRPr>
              </a:p>
            </p:txBody>
          </p:sp>
        </p:grp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3217E0BC-B7C2-D5F3-67A3-320AA20C0E45}"/>
              </a:ext>
            </a:extLst>
          </p:cNvPr>
          <p:cNvSpPr txBox="1"/>
          <p:nvPr/>
        </p:nvSpPr>
        <p:spPr>
          <a:xfrm>
            <a:off x="555078" y="4282272"/>
            <a:ext cx="485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>
                <a:latin typeface="Swis721 BT" panose="020B0504020202020204" pitchFamily="34" charset="0"/>
              </a:rPr>
              <a:t>ME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81414A1-70B3-2E1C-24B3-1639B6DD6701}"/>
              </a:ext>
            </a:extLst>
          </p:cNvPr>
          <p:cNvSpPr/>
          <p:nvPr/>
        </p:nvSpPr>
        <p:spPr>
          <a:xfrm>
            <a:off x="895894" y="3197306"/>
            <a:ext cx="203421" cy="203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ysClr val="windowText" lastClr="000000"/>
                </a:solidFill>
                <a:latin typeface="Swis721 BT" panose="020B0504020202020204" pitchFamily="34" charset="0"/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DB445A-9E33-BDA2-2497-E9F57A7D629C}"/>
              </a:ext>
            </a:extLst>
          </p:cNvPr>
          <p:cNvSpPr txBox="1"/>
          <p:nvPr/>
        </p:nvSpPr>
        <p:spPr>
          <a:xfrm>
            <a:off x="3073628" y="1333658"/>
            <a:ext cx="19096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>
                <a:latin typeface="Swis721 BT" panose="020B0504020202020204" pitchFamily="34" charset="0"/>
              </a:rPr>
              <a:t>ASM Dashboard</a:t>
            </a:r>
            <a:br>
              <a:rPr lang="en-IN" sz="1600" b="1">
                <a:latin typeface="Swis721 BT" panose="020B0504020202020204" pitchFamily="34" charset="0"/>
              </a:rPr>
            </a:br>
            <a:r>
              <a:rPr lang="en-IN" sz="1200" b="1">
                <a:latin typeface="Swis721 BT" panose="020B0504020202020204" pitchFamily="34" charset="0"/>
              </a:rPr>
              <a:t>(Tactical Decision Layer)</a:t>
            </a:r>
            <a:endParaRPr lang="en-IN" sz="1600" b="1">
              <a:latin typeface="Swis721 BT" panose="020B05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F97AFA-2AEB-55DA-9326-CB9465BE8D3D}"/>
              </a:ext>
            </a:extLst>
          </p:cNvPr>
          <p:cNvSpPr/>
          <p:nvPr/>
        </p:nvSpPr>
        <p:spPr>
          <a:xfrm>
            <a:off x="3073628" y="1988533"/>
            <a:ext cx="1522714" cy="80401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Swis721 BT" panose="020B0504020202020204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DBCF45C-170B-1994-78BC-0E4E562E71A1}"/>
              </a:ext>
            </a:extLst>
          </p:cNvPr>
          <p:cNvSpPr/>
          <p:nvPr/>
        </p:nvSpPr>
        <p:spPr>
          <a:xfrm>
            <a:off x="2870207" y="1431899"/>
            <a:ext cx="203421" cy="203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ysClr val="windowText" lastClr="000000"/>
                </a:solidFill>
                <a:latin typeface="Swis721 BT" panose="020B0504020202020204" pitchFamily="34" charset="0"/>
              </a:rPr>
              <a:t>2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3675EAB4-8162-783E-6F33-6CEDE7148EC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885698" y="2057064"/>
            <a:ext cx="755684" cy="140924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Graphic 30" descr="List with solid fill">
            <a:extLst>
              <a:ext uri="{FF2B5EF4-FFF2-40B4-BE49-F238E27FC236}">
                <a16:creationId xmlns:a16="http://schemas.microsoft.com/office/drawing/2014/main" id="{7160BE7C-064A-CB9F-395D-2F889266B6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9501" y="1906223"/>
            <a:ext cx="374392" cy="37439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33634F0-A279-3126-F36B-E71B155C6C91}"/>
              </a:ext>
            </a:extLst>
          </p:cNvPr>
          <p:cNvSpPr txBox="1"/>
          <p:nvPr/>
        </p:nvSpPr>
        <p:spPr>
          <a:xfrm>
            <a:off x="1221239" y="1818950"/>
            <a:ext cx="1101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>
                <a:latin typeface="Swis721 BT" panose="020B0504020202020204" pitchFamily="34" charset="0"/>
              </a:rPr>
              <a:t>Engagement Reports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14EF8D9-5352-A197-FC0B-3491173BF33C}"/>
              </a:ext>
            </a:extLst>
          </p:cNvPr>
          <p:cNvGrpSpPr>
            <a:grpSpLocks/>
          </p:cNvGrpSpPr>
          <p:nvPr/>
        </p:nvGrpSpPr>
        <p:grpSpPr bwMode="auto">
          <a:xfrm>
            <a:off x="2282919" y="3906539"/>
            <a:ext cx="182296" cy="315314"/>
            <a:chOff x="296412" y="281611"/>
            <a:chExt cx="400104" cy="738644"/>
          </a:xfrm>
          <a:solidFill>
            <a:schemeClr val="bg1">
              <a:lumMod val="65000"/>
            </a:schemeClr>
          </a:solidFill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8752FCC-DED9-0188-137C-D4B886207451}"/>
                </a:ext>
              </a:extLst>
            </p:cNvPr>
            <p:cNvSpPr/>
            <p:nvPr/>
          </p:nvSpPr>
          <p:spPr>
            <a:xfrm>
              <a:off x="359491" y="281611"/>
              <a:ext cx="273945" cy="275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Swis721 BT" panose="020B0504020202020204" pitchFamily="34" charset="0"/>
              </a:endParaRPr>
            </a:p>
          </p:txBody>
        </p:sp>
        <p:sp>
          <p:nvSpPr>
            <p:cNvPr id="49" name="Flowchart: Delay 48">
              <a:extLst>
                <a:ext uri="{FF2B5EF4-FFF2-40B4-BE49-F238E27FC236}">
                  <a16:creationId xmlns:a16="http://schemas.microsoft.com/office/drawing/2014/main" id="{05E1962E-F45B-1EA2-7E62-9A56EE38EC41}"/>
                </a:ext>
              </a:extLst>
            </p:cNvPr>
            <p:cNvSpPr/>
            <p:nvPr/>
          </p:nvSpPr>
          <p:spPr>
            <a:xfrm rot="16200000">
              <a:off x="329915" y="570132"/>
              <a:ext cx="329493" cy="295572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Swis721 BT" panose="020B0504020202020204" pitchFamily="34" charset="0"/>
              </a:endParaRPr>
            </a:p>
          </p:txBody>
        </p:sp>
        <p:grpSp>
          <p:nvGrpSpPr>
            <p:cNvPr id="50" name="Group 126">
              <a:extLst>
                <a:ext uri="{FF2B5EF4-FFF2-40B4-BE49-F238E27FC236}">
                  <a16:creationId xmlns:a16="http://schemas.microsoft.com/office/drawing/2014/main" id="{6D93964E-ED96-D6EE-CED4-20D811FE3420}"/>
                </a:ext>
              </a:extLst>
            </p:cNvPr>
            <p:cNvGrpSpPr/>
            <p:nvPr/>
          </p:nvGrpSpPr>
          <p:grpSpPr>
            <a:xfrm>
              <a:off x="296412" y="615207"/>
              <a:ext cx="400104" cy="405048"/>
              <a:chOff x="1988052" y="4298715"/>
              <a:chExt cx="400104" cy="405048"/>
            </a:xfrm>
            <a:grpFill/>
          </p:grpSpPr>
          <p:sp>
            <p:nvSpPr>
              <p:cNvPr id="51" name="Flowchart: Delay 50">
                <a:extLst>
                  <a:ext uri="{FF2B5EF4-FFF2-40B4-BE49-F238E27FC236}">
                    <a16:creationId xmlns:a16="http://schemas.microsoft.com/office/drawing/2014/main" id="{AFB62DF4-25AC-2044-2C66-527C66358E40}"/>
                  </a:ext>
                </a:extLst>
              </p:cNvPr>
              <p:cNvSpPr/>
              <p:nvPr/>
            </p:nvSpPr>
            <p:spPr>
              <a:xfrm rot="16200000">
                <a:off x="2021286" y="4390233"/>
                <a:ext cx="330200" cy="296860"/>
              </a:xfrm>
              <a:prstGeom prst="flowChartDelay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Swis721 BT" panose="020B0504020202020204" pitchFamily="34" charset="0"/>
                </a:endParaRPr>
              </a:p>
            </p:txBody>
          </p:sp>
          <p:sp>
            <p:nvSpPr>
              <p:cNvPr id="52" name="Rounded Rectangle 147">
                <a:extLst>
                  <a:ext uri="{FF2B5EF4-FFF2-40B4-BE49-F238E27FC236}">
                    <a16:creationId xmlns:a16="http://schemas.microsoft.com/office/drawing/2014/main" id="{48F0F4D9-C27B-9A4F-B769-3B6CD6F2E3DE}"/>
                  </a:ext>
                </a:extLst>
              </p:cNvPr>
              <p:cNvSpPr/>
              <p:nvPr/>
            </p:nvSpPr>
            <p:spPr>
              <a:xfrm rot="3475501">
                <a:off x="2193530" y="4401210"/>
                <a:ext cx="290772" cy="984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Swis721 BT" panose="020B0504020202020204" pitchFamily="34" charset="0"/>
                </a:endParaRPr>
              </a:p>
            </p:txBody>
          </p:sp>
          <p:sp>
            <p:nvSpPr>
              <p:cNvPr id="53" name="Rounded Rectangle 148">
                <a:extLst>
                  <a:ext uri="{FF2B5EF4-FFF2-40B4-BE49-F238E27FC236}">
                    <a16:creationId xmlns:a16="http://schemas.microsoft.com/office/drawing/2014/main" id="{B1F1D4EC-CB0F-90B2-A2C7-F3A401564433}"/>
                  </a:ext>
                </a:extLst>
              </p:cNvPr>
              <p:cNvSpPr/>
              <p:nvPr/>
            </p:nvSpPr>
            <p:spPr>
              <a:xfrm rot="18124499" flipV="1">
                <a:off x="1891907" y="4394860"/>
                <a:ext cx="290772" cy="984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Swis721 BT" panose="020B0504020202020204" pitchFamily="34" charset="0"/>
                </a:endParaRPr>
              </a:p>
            </p:txBody>
          </p:sp>
        </p:grp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BC78FC01-8B15-675B-73F9-73FC19A74B1F}"/>
              </a:ext>
            </a:extLst>
          </p:cNvPr>
          <p:cNvSpPr txBox="1"/>
          <p:nvPr/>
        </p:nvSpPr>
        <p:spPr>
          <a:xfrm>
            <a:off x="1936195" y="4278741"/>
            <a:ext cx="874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>
                <a:latin typeface="Swis721 BT" panose="020B0504020202020204" pitchFamily="34" charset="0"/>
              </a:rPr>
              <a:t>Retailer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472AE3-EA80-F0BA-D64A-D53B4766C6CE}"/>
              </a:ext>
            </a:extLst>
          </p:cNvPr>
          <p:cNvSpPr txBox="1"/>
          <p:nvPr/>
        </p:nvSpPr>
        <p:spPr>
          <a:xfrm>
            <a:off x="6297557" y="1272909"/>
            <a:ext cx="23964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>
                <a:latin typeface="Swis721 BT" panose="020B0504020202020204" pitchFamily="34" charset="0"/>
              </a:rPr>
              <a:t>Leadership Dashboard </a:t>
            </a:r>
            <a:br>
              <a:rPr lang="en-IN" sz="1600" b="1">
                <a:latin typeface="Swis721 BT" panose="020B0504020202020204" pitchFamily="34" charset="0"/>
              </a:rPr>
            </a:br>
            <a:r>
              <a:rPr lang="en-IN" sz="1200" b="1">
                <a:latin typeface="Swis721 BT" panose="020B0504020202020204" pitchFamily="34" charset="0"/>
              </a:rPr>
              <a:t>(Strategic Intelligence Layer)</a:t>
            </a:r>
            <a:endParaRPr lang="en-IN" sz="1600" b="1">
              <a:latin typeface="Swis721 BT" panose="020B05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5855737-D45F-8F00-C30C-10F5D4B701F0}"/>
              </a:ext>
            </a:extLst>
          </p:cNvPr>
          <p:cNvSpPr/>
          <p:nvPr/>
        </p:nvSpPr>
        <p:spPr>
          <a:xfrm>
            <a:off x="6735296" y="1923278"/>
            <a:ext cx="1522714" cy="80401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Swis721 BT" panose="020B0504020202020204" pitchFamily="34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8A9B481-2E95-35FD-C5E0-B9DC8D05BFFA}"/>
              </a:ext>
            </a:extLst>
          </p:cNvPr>
          <p:cNvSpPr/>
          <p:nvPr/>
        </p:nvSpPr>
        <p:spPr>
          <a:xfrm>
            <a:off x="6094136" y="1376496"/>
            <a:ext cx="203421" cy="203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ysClr val="windowText" lastClr="000000"/>
                </a:solidFill>
                <a:latin typeface="Swis721 BT" panose="020B0504020202020204" pitchFamily="34" charset="0"/>
              </a:rPr>
              <a:t>3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CAAD5D1C-4CC0-D86E-D377-6F20F62AA8EA}"/>
              </a:ext>
            </a:extLst>
          </p:cNvPr>
          <p:cNvGrpSpPr/>
          <p:nvPr/>
        </p:nvGrpSpPr>
        <p:grpSpPr>
          <a:xfrm>
            <a:off x="8510644" y="5050628"/>
            <a:ext cx="1374578" cy="954107"/>
            <a:chOff x="8473260" y="4438768"/>
            <a:chExt cx="1374578" cy="954107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BF91469-72A3-E448-E828-79335A208498}"/>
                </a:ext>
              </a:extLst>
            </p:cNvPr>
            <p:cNvSpPr txBox="1"/>
            <p:nvPr/>
          </p:nvSpPr>
          <p:spPr>
            <a:xfrm>
              <a:off x="8473260" y="4438768"/>
              <a:ext cx="137457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>
                  <a:latin typeface="Swis721 BT" panose="020B0504020202020204" pitchFamily="34" charset="0"/>
                </a:rPr>
                <a:t>Nudges / Campaigns</a:t>
              </a:r>
              <a:br>
                <a:rPr lang="en-IN" sz="1600" b="1">
                  <a:latin typeface="Swis721 BT" panose="020B0504020202020204" pitchFamily="34" charset="0"/>
                </a:rPr>
              </a:br>
              <a:r>
                <a:rPr lang="en-IN" sz="1200" b="1">
                  <a:latin typeface="Swis721 BT" panose="020B0504020202020204" pitchFamily="34" charset="0"/>
                </a:rPr>
                <a:t>(Execution Layer)</a:t>
              </a:r>
              <a:endParaRPr lang="en-IN" sz="1600" b="1">
                <a:latin typeface="Swis721 BT" panose="020B0504020202020204" pitchFamily="34" charset="0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E9813F2-2B07-99E7-0A08-0CBB26E09413}"/>
                </a:ext>
              </a:extLst>
            </p:cNvPr>
            <p:cNvSpPr/>
            <p:nvPr/>
          </p:nvSpPr>
          <p:spPr>
            <a:xfrm>
              <a:off x="8501068" y="4562614"/>
              <a:ext cx="142812" cy="14281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solidFill>
                    <a:sysClr val="windowText" lastClr="000000"/>
                  </a:solidFill>
                  <a:latin typeface="Swis721 BT" panose="020B0504020202020204" pitchFamily="34" charset="0"/>
                </a:rPr>
                <a:t>5</a:t>
              </a:r>
            </a:p>
          </p:txBody>
        </p:sp>
      </p:grp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74AEA88-6149-52B9-658A-F68FCB0DFC30}"/>
              </a:ext>
            </a:extLst>
          </p:cNvPr>
          <p:cNvCxnSpPr/>
          <p:nvPr/>
        </p:nvCxnSpPr>
        <p:spPr>
          <a:xfrm>
            <a:off x="4874150" y="2383846"/>
            <a:ext cx="15227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8C519A02-44D1-BFB0-6231-F333493E0F0B}"/>
              </a:ext>
            </a:extLst>
          </p:cNvPr>
          <p:cNvSpPr txBox="1"/>
          <p:nvPr/>
        </p:nvSpPr>
        <p:spPr>
          <a:xfrm>
            <a:off x="5065233" y="1947538"/>
            <a:ext cx="11387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>
                <a:latin typeface="Swis721 BT" panose="020B0504020202020204" pitchFamily="34" charset="0"/>
              </a:rPr>
              <a:t>∑  (ME-Retailer engagements)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EA75CFD-C857-9C88-8315-C92514902505}"/>
              </a:ext>
            </a:extLst>
          </p:cNvPr>
          <p:cNvGrpSpPr/>
          <p:nvPr/>
        </p:nvGrpSpPr>
        <p:grpSpPr>
          <a:xfrm>
            <a:off x="6172753" y="3924477"/>
            <a:ext cx="2399430" cy="1454381"/>
            <a:chOff x="4222043" y="4397441"/>
            <a:chExt cx="2399430" cy="1454381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050A93-F268-2488-72CA-BA784A00B588}"/>
                </a:ext>
              </a:extLst>
            </p:cNvPr>
            <p:cNvSpPr txBox="1"/>
            <p:nvPr/>
          </p:nvSpPr>
          <p:spPr>
            <a:xfrm>
              <a:off x="4225070" y="4397441"/>
              <a:ext cx="23964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>
                  <a:latin typeface="Swis721 BT" panose="020B0504020202020204" pitchFamily="34" charset="0"/>
                </a:rPr>
                <a:t>Retailer Intelligence</a:t>
              </a:r>
              <a:br>
                <a:rPr lang="en-IN" sz="1600" b="1">
                  <a:latin typeface="Swis721 BT" panose="020B0504020202020204" pitchFamily="34" charset="0"/>
                </a:rPr>
              </a:br>
              <a:r>
                <a:rPr lang="en-IN" sz="1200" b="1">
                  <a:latin typeface="Swis721 BT" panose="020B0504020202020204" pitchFamily="34" charset="0"/>
                </a:rPr>
                <a:t>(AI + Rules Layer)</a:t>
              </a:r>
              <a:endParaRPr lang="en-IN" sz="1600" b="1">
                <a:latin typeface="Swis721 BT" panose="020B050402020202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392EF14-5E16-229F-36DD-7FD7A95B8496}"/>
                </a:ext>
              </a:extLst>
            </p:cNvPr>
            <p:cNvSpPr/>
            <p:nvPr/>
          </p:nvSpPr>
          <p:spPr>
            <a:xfrm>
              <a:off x="4662809" y="5047810"/>
              <a:ext cx="1522714" cy="80401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Swis721 BT" panose="020B0504020202020204" pitchFamily="34" charset="0"/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2811EEFC-770C-A9D5-9B3B-4804A61A2A99}"/>
                </a:ext>
              </a:extLst>
            </p:cNvPr>
            <p:cNvSpPr/>
            <p:nvPr/>
          </p:nvSpPr>
          <p:spPr>
            <a:xfrm>
              <a:off x="4222043" y="4615314"/>
              <a:ext cx="203421" cy="2034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solidFill>
                    <a:sysClr val="windowText" lastClr="000000"/>
                  </a:solidFill>
                  <a:latin typeface="Swis721 BT" panose="020B0504020202020204" pitchFamily="34" charset="0"/>
                </a:rPr>
                <a:t>4</a:t>
              </a:r>
            </a:p>
          </p:txBody>
        </p:sp>
      </p:grp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E39F9B7B-2723-339A-6C61-FEDA3E99668D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4105822" y="2109803"/>
            <a:ext cx="722149" cy="5815960"/>
          </a:xfrm>
          <a:prstGeom prst="bentConnector3">
            <a:avLst>
              <a:gd name="adj1" fmla="val 13165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0DDD70F-38A1-5F0F-010F-DA5E18D51672}"/>
              </a:ext>
            </a:extLst>
          </p:cNvPr>
          <p:cNvCxnSpPr>
            <a:cxnSpLocks/>
          </p:cNvCxnSpPr>
          <p:nvPr/>
        </p:nvCxnSpPr>
        <p:spPr>
          <a:xfrm>
            <a:off x="10011106" y="719054"/>
            <a:ext cx="0" cy="60014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5AAEA33B-F586-4D3A-C371-83AC346A6045}"/>
              </a:ext>
            </a:extLst>
          </p:cNvPr>
          <p:cNvCxnSpPr>
            <a:cxnSpLocks/>
            <a:endCxn id="7" idx="1"/>
          </p:cNvCxnSpPr>
          <p:nvPr/>
        </p:nvCxnSpPr>
        <p:spPr>
          <a:xfrm flipH="1" flipV="1">
            <a:off x="1211709" y="4084840"/>
            <a:ext cx="6924524" cy="892012"/>
          </a:xfrm>
          <a:prstGeom prst="bentConnector5">
            <a:avLst>
              <a:gd name="adj1" fmla="val -24732"/>
              <a:gd name="adj2" fmla="val -186720"/>
              <a:gd name="adj3" fmla="val 101707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574B12F3-1880-1E80-1E66-FA2ADC8AEB9F}"/>
              </a:ext>
            </a:extLst>
          </p:cNvPr>
          <p:cNvCxnSpPr>
            <a:cxnSpLocks/>
            <a:endCxn id="63" idx="3"/>
          </p:cNvCxnSpPr>
          <p:nvPr/>
        </p:nvCxnSpPr>
        <p:spPr>
          <a:xfrm flipV="1">
            <a:off x="8136233" y="2325284"/>
            <a:ext cx="121777" cy="2651568"/>
          </a:xfrm>
          <a:prstGeom prst="bentConnector3">
            <a:avLst>
              <a:gd name="adj1" fmla="val 1387954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3EACFEBA-686F-939C-4BEB-0AE087C6DB57}"/>
              </a:ext>
            </a:extLst>
          </p:cNvPr>
          <p:cNvCxnSpPr>
            <a:cxnSpLocks/>
            <a:endCxn id="26" idx="0"/>
          </p:cNvCxnSpPr>
          <p:nvPr/>
        </p:nvCxnSpPr>
        <p:spPr>
          <a:xfrm flipH="1" flipV="1">
            <a:off x="4028476" y="1333658"/>
            <a:ext cx="4107757" cy="3643194"/>
          </a:xfrm>
          <a:prstGeom prst="bentConnector4">
            <a:avLst>
              <a:gd name="adj1" fmla="val -5565"/>
              <a:gd name="adj2" fmla="val 106275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44E9C41-65E6-2759-7C95-36ACCC51A117}"/>
              </a:ext>
            </a:extLst>
          </p:cNvPr>
          <p:cNvSpPr/>
          <p:nvPr/>
        </p:nvSpPr>
        <p:spPr>
          <a:xfrm>
            <a:off x="8928523" y="5848938"/>
            <a:ext cx="608958" cy="1997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Swis721 BT" panose="020B0504020202020204" pitchFamily="34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B349CB3-1F41-B69B-3F0F-0E14F61ACBE3}"/>
              </a:ext>
            </a:extLst>
          </p:cNvPr>
          <p:cNvSpPr txBox="1"/>
          <p:nvPr/>
        </p:nvSpPr>
        <p:spPr>
          <a:xfrm>
            <a:off x="3977216" y="5091847"/>
            <a:ext cx="2012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>
                <a:latin typeface="Swis721 BT" panose="020B0504020202020204" pitchFamily="34" charset="0"/>
              </a:rPr>
              <a:t>Retailer Data - Feedback, Objections, etc.</a:t>
            </a:r>
          </a:p>
        </p:txBody>
      </p:sp>
      <p:sp>
        <p:nvSpPr>
          <p:cNvPr id="2" name="Isosceles Triangle 1">
            <a:hlinkClick r:id="rId4" action="ppaction://hlinksldjump"/>
            <a:extLst>
              <a:ext uri="{FF2B5EF4-FFF2-40B4-BE49-F238E27FC236}">
                <a16:creationId xmlns:a16="http://schemas.microsoft.com/office/drawing/2014/main" id="{CFA3ED77-25CC-DA28-BAAA-2F2008AB49F8}"/>
              </a:ext>
            </a:extLst>
          </p:cNvPr>
          <p:cNvSpPr/>
          <p:nvPr/>
        </p:nvSpPr>
        <p:spPr>
          <a:xfrm rot="5400000">
            <a:off x="1947631" y="3248033"/>
            <a:ext cx="178240" cy="153654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wis721 BT" panose="020B0504020202020204" pitchFamily="34" charset="0"/>
            </a:endParaRPr>
          </a:p>
        </p:txBody>
      </p:sp>
      <p:sp>
        <p:nvSpPr>
          <p:cNvPr id="3" name="Isosceles Triangle 2">
            <a:hlinkClick r:id="rId5" action="ppaction://hlinksldjump"/>
            <a:extLst>
              <a:ext uri="{FF2B5EF4-FFF2-40B4-BE49-F238E27FC236}">
                <a16:creationId xmlns:a16="http://schemas.microsoft.com/office/drawing/2014/main" id="{6BF62393-4CA9-9D36-B6FE-5B7B9D0C163A}"/>
              </a:ext>
            </a:extLst>
          </p:cNvPr>
          <p:cNvSpPr/>
          <p:nvPr/>
        </p:nvSpPr>
        <p:spPr>
          <a:xfrm rot="5400000">
            <a:off x="4808075" y="1427778"/>
            <a:ext cx="178240" cy="153654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wis721 BT" panose="020B0504020202020204" pitchFamily="34" charset="0"/>
            </a:endParaRPr>
          </a:p>
        </p:txBody>
      </p:sp>
      <p:sp>
        <p:nvSpPr>
          <p:cNvPr id="4" name="Isosceles Triangle 3">
            <a:hlinkClick r:id="rId6" action="ppaction://hlinksldjump"/>
            <a:extLst>
              <a:ext uri="{FF2B5EF4-FFF2-40B4-BE49-F238E27FC236}">
                <a16:creationId xmlns:a16="http://schemas.microsoft.com/office/drawing/2014/main" id="{34145EA2-758D-7FD6-2377-3DED525B80EA}"/>
              </a:ext>
            </a:extLst>
          </p:cNvPr>
          <p:cNvSpPr/>
          <p:nvPr/>
        </p:nvSpPr>
        <p:spPr>
          <a:xfrm rot="5400000">
            <a:off x="8597565" y="1388789"/>
            <a:ext cx="178240" cy="153654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wis721 BT" panose="020B0504020202020204" pitchFamily="34" charset="0"/>
            </a:endParaRPr>
          </a:p>
        </p:txBody>
      </p:sp>
      <p:sp>
        <p:nvSpPr>
          <p:cNvPr id="15" name="Isosceles Triangle 14">
            <a:hlinkClick r:id="rId7" action="ppaction://hlinksldjump"/>
            <a:extLst>
              <a:ext uri="{FF2B5EF4-FFF2-40B4-BE49-F238E27FC236}">
                <a16:creationId xmlns:a16="http://schemas.microsoft.com/office/drawing/2014/main" id="{EA6B8CA0-8F79-8CC2-88EF-4BC2957A8B66}"/>
              </a:ext>
            </a:extLst>
          </p:cNvPr>
          <p:cNvSpPr/>
          <p:nvPr/>
        </p:nvSpPr>
        <p:spPr>
          <a:xfrm rot="5400000">
            <a:off x="8369820" y="4171074"/>
            <a:ext cx="178240" cy="153654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wis721 BT" panose="020B0504020202020204" pitchFamily="34" charset="0"/>
            </a:endParaRPr>
          </a:p>
        </p:txBody>
      </p:sp>
      <p:sp>
        <p:nvSpPr>
          <p:cNvPr id="16" name="Isosceles Triangle 15">
            <a:hlinkClick r:id="rId8" action="ppaction://hlinksldjump"/>
            <a:extLst>
              <a:ext uri="{FF2B5EF4-FFF2-40B4-BE49-F238E27FC236}">
                <a16:creationId xmlns:a16="http://schemas.microsoft.com/office/drawing/2014/main" id="{C7E3A514-DF11-5130-C26B-B1E407AFFBAE}"/>
              </a:ext>
            </a:extLst>
          </p:cNvPr>
          <p:cNvSpPr/>
          <p:nvPr/>
        </p:nvSpPr>
        <p:spPr>
          <a:xfrm rot="5400000">
            <a:off x="11951868" y="3433651"/>
            <a:ext cx="178240" cy="153654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wis721 BT" panose="020B0504020202020204" pitchFamily="34" charset="0"/>
            </a:endParaRPr>
          </a:p>
        </p:txBody>
      </p:sp>
      <p:sp>
        <p:nvSpPr>
          <p:cNvPr id="17" name="Isosceles Triangle 16">
            <a:hlinkClick r:id="rId9" action="ppaction://hlinksldjump"/>
            <a:extLst>
              <a:ext uri="{FF2B5EF4-FFF2-40B4-BE49-F238E27FC236}">
                <a16:creationId xmlns:a16="http://schemas.microsoft.com/office/drawing/2014/main" id="{8FCA4EC3-D839-1560-0EE2-0C6581AFC21A}"/>
              </a:ext>
            </a:extLst>
          </p:cNvPr>
          <p:cNvSpPr/>
          <p:nvPr/>
        </p:nvSpPr>
        <p:spPr>
          <a:xfrm rot="5400000">
            <a:off x="9596668" y="5871977"/>
            <a:ext cx="178240" cy="153654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wis721 BT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139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DF28FC-5BDC-E567-7848-58BF3CA00C30}"/>
              </a:ext>
            </a:extLst>
          </p:cNvPr>
          <p:cNvSpPr txBox="1"/>
          <p:nvPr/>
        </p:nvSpPr>
        <p:spPr>
          <a:xfrm>
            <a:off x="3050134" y="203609"/>
            <a:ext cx="8982403" cy="689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sz="12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Goal (what it does):</a:t>
            </a:r>
            <a:br>
              <a:rPr lang="en-IN" sz="12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MEs use the app to have structured conversations with each of their retailers as part of their day-to-day engagements.</a:t>
            </a:r>
            <a:b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en-IN" sz="1200" kern="100" dirty="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2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What it contains?</a:t>
            </a:r>
            <a:endParaRPr lang="en-IN" sz="1200" kern="100" dirty="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47675" indent="-180975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Trading Area View - List of all the Retailers</a:t>
            </a:r>
          </a:p>
          <a:p>
            <a:pPr marL="447675" indent="-180975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Retailer Profile – location, products handled, revenue, engagement history, etc.,</a:t>
            </a:r>
          </a:p>
          <a:p>
            <a:pPr marL="447675" indent="-180975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Library of Engagement Units</a:t>
            </a:r>
          </a:p>
          <a:p>
            <a:pPr marL="904875" lvl="2" indent="-180975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Customized engagement Plan </a:t>
            </a:r>
            <a:r>
              <a:rPr lang="en-IN" sz="1000" kern="100" dirty="0">
                <a:latin typeface="Swis721 BT" panose="020B0504020202020204" pitchFamily="34" charset="0"/>
                <a:cs typeface="Arial" panose="020B0604020202020204" pitchFamily="34" charset="0"/>
              </a:rPr>
              <a:t>(E.g.: </a:t>
            </a:r>
            <a:r>
              <a:rPr lang="en-US" sz="1000" kern="100" dirty="0">
                <a:latin typeface="Swis721 BT" panose="020B0504020202020204" pitchFamily="34" charset="0"/>
                <a:cs typeface="Arial" panose="020B0604020202020204" pitchFamily="34" charset="0"/>
              </a:rPr>
              <a:t>Getting Initial Success as a New Retailer)</a:t>
            </a:r>
            <a:endParaRPr lang="en-IN" sz="1000" kern="100" dirty="0">
              <a:latin typeface="Swis721 BT" panose="020B0504020202020204" pitchFamily="34" charset="0"/>
              <a:cs typeface="Arial" panose="020B0604020202020204" pitchFamily="34" charset="0"/>
            </a:endParaRPr>
          </a:p>
          <a:p>
            <a:pPr marL="904875" lvl="2" indent="-180975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Core Discussion Points </a:t>
            </a:r>
            <a:r>
              <a:rPr lang="en-IN" sz="10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(E.g.: </a:t>
            </a:r>
            <a:r>
              <a:rPr lang="en-US" sz="10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Higher Profit Pool, Full Customer Solution, Low-Risk Expansion)</a:t>
            </a:r>
            <a:endParaRPr lang="en-IN" sz="1000" kern="100" dirty="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904875" lvl="2" indent="-180975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Retailer Action points / Go-forwards</a:t>
            </a:r>
          </a:p>
          <a:p>
            <a:pPr marL="904875" lvl="2" indent="-180975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Key critical feedback points from retailer </a:t>
            </a:r>
            <a:r>
              <a:rPr lang="en-IN" sz="1000" kern="100" dirty="0">
                <a:latin typeface="Swis721 BT" panose="020B0504020202020204" pitchFamily="34" charset="0"/>
                <a:cs typeface="Arial" panose="020B0604020202020204" pitchFamily="34" charset="0"/>
              </a:rPr>
              <a:t>(E.g.: Customers complain the setting time feels inconsistent)</a:t>
            </a:r>
          </a:p>
          <a:p>
            <a:pPr marL="447675" indent="-180975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Retailer Visit Reports</a:t>
            </a:r>
            <a:b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en-IN" sz="1200" b="1" kern="100" dirty="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n-IN" sz="12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Measures / Outcomes:</a:t>
            </a:r>
            <a:endParaRPr lang="en-IN" sz="1200" kern="100" dirty="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Objections raised by the retailer for each of the core discussion points </a:t>
            </a:r>
            <a:b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IN" sz="10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(E.g.: Discussion: </a:t>
            </a:r>
            <a:r>
              <a:rPr lang="en-US" sz="1000" i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JK's Vision of Multi-Products, Objection: No demand in My area)</a:t>
            </a:r>
            <a:endParaRPr lang="en-IN" sz="1000" kern="100" dirty="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Retailer Action points / Go-forwards </a:t>
            </a:r>
          </a:p>
          <a:p>
            <a:pPr marL="1143000" lvl="2" indent="-228600">
              <a:buFont typeface="+mj-lt"/>
              <a:buAutoNum type="romanLcPeriod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Specific action points linked to objections (E.g.: </a:t>
            </a:r>
            <a:r>
              <a:rPr lang="en-IN" sz="10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Start with a small trial batch to test actual demand before committing further</a:t>
            </a: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marL="1143000" lvl="2" indent="-228600">
              <a:buFont typeface="+mj-lt"/>
              <a:buAutoNum type="romanLcPeriod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Independent action points to achieve the overall Engagement Units (E.g.:</a:t>
            </a:r>
            <a:r>
              <a:rPr lang="en-IN" sz="10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I'll try 2–3 relevant SKUs with contractors before the next meeting to see if it works for me</a:t>
            </a: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Key critical feedback points from retailer [new]</a:t>
            </a:r>
          </a:p>
          <a:p>
            <a:pPr marL="1143000" lvl="2" indent="-228600">
              <a:buFont typeface="+mj-lt"/>
              <a:buAutoNum type="romanLcPeriod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Behavioural inputs – Willingness to promote JK, scheme response, etc.</a:t>
            </a:r>
          </a:p>
          <a:p>
            <a:pPr marL="1143000" lvl="2" indent="-228600">
              <a:buFont typeface="+mj-lt"/>
              <a:buAutoNum type="romanLcPeriod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Retailer sentiment -competitor push, credit stress, demand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Engagement Outputs [new]</a:t>
            </a:r>
          </a:p>
          <a:p>
            <a:pPr marL="1143000" lvl="2" indent="-228600">
              <a:buFont typeface="+mj-lt"/>
              <a:buAutoNum type="romanLcPeriod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Engagement Duration – GPS, Engagement Units clicks (time from starting the Engagement Units to sharing the report)</a:t>
            </a:r>
          </a:p>
          <a:p>
            <a:pPr marL="1143000" lvl="2" indent="-228600">
              <a:buFont typeface="+mj-lt"/>
              <a:buAutoNum type="romanLcPeriod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Summary Report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 preparation [new]</a:t>
            </a:r>
          </a:p>
          <a:p>
            <a:pPr marL="1143000" lvl="2" indent="-228600">
              <a:buFont typeface="+mj-lt"/>
              <a:buAutoNum type="romanLcPeriod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Time spent by ME reviewing Retailer snapshot / engagement plan ??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Ground level insights/ challenges [new]</a:t>
            </a:r>
            <a:b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(For e.g. Due to poor packaging of Putty, retailers in Pune are not selling it during monsoon)</a:t>
            </a:r>
            <a:b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en-IN" sz="1200" kern="100" dirty="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n-IN" sz="12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Operational Protocols (for JK):</a:t>
            </a:r>
            <a:endParaRPr lang="en-IN" sz="1200" kern="100" dirty="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 uses it as part of daily field visits to each &amp; every retailer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Ensure ME covers inactive / new retailers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Cover all Engagement Units for a retailer in 6 months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Nudges (say, majority have no demand in this area)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595029-351E-8E6E-8542-72E113E6ECE9}"/>
              </a:ext>
            </a:extLst>
          </p:cNvPr>
          <p:cNvSpPr txBox="1"/>
          <p:nvPr/>
        </p:nvSpPr>
        <p:spPr>
          <a:xfrm>
            <a:off x="12572828" y="709094"/>
            <a:ext cx="299676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 startAt="5"/>
            </a:pPr>
            <a:r>
              <a:rPr lang="en-IN" sz="1200" b="1" kern="10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Interaction with other components of the system:</a:t>
            </a:r>
            <a:endParaRPr lang="en-IN" sz="1200" kern="10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Retailer Intelligence Component - Get the CEP, core discussion points, retailer dimensions and retailer morphology; Send retailer action points / go-forwards, key critical feedback, retailer-raised objections and ground level insights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ASM Analytics Dashboard – send visit reports</a:t>
            </a:r>
          </a:p>
          <a:p>
            <a:pPr marL="685800" lvl="1" indent="-2286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kern="10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Actionable Improvements – receive nudges</a:t>
            </a:r>
            <a:endParaRPr lang="en-IN" sz="1200" kern="100">
              <a:effectLst/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93C64-DB1F-62B1-A9A6-87223FCF36F2}"/>
              </a:ext>
            </a:extLst>
          </p:cNvPr>
          <p:cNvSpPr txBox="1"/>
          <p:nvPr/>
        </p:nvSpPr>
        <p:spPr>
          <a:xfrm>
            <a:off x="114301" y="18943"/>
            <a:ext cx="898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latin typeface="Swis721 BT" panose="020B0504020202020204" pitchFamily="34" charset="0"/>
              </a:rPr>
              <a:t>ME App</a:t>
            </a:r>
          </a:p>
        </p:txBody>
      </p:sp>
      <p:pic>
        <p:nvPicPr>
          <p:cNvPr id="9" name="Picture 8">
            <a:hlinkClick r:id="rId3"/>
            <a:extLst>
              <a:ext uri="{FF2B5EF4-FFF2-40B4-BE49-F238E27FC236}">
                <a16:creationId xmlns:a16="http://schemas.microsoft.com/office/drawing/2014/main" id="{265935E8-50A3-11D3-E619-5CE5F840E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43" y="1007921"/>
            <a:ext cx="1556474" cy="22646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2DEC1C-13B2-E1EB-D6FD-C667393F30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880" y="2388080"/>
            <a:ext cx="1556474" cy="300831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F509D0-0B9B-83DC-D011-35AEDB8E46B2}"/>
              </a:ext>
            </a:extLst>
          </p:cNvPr>
          <p:cNvCxnSpPr/>
          <p:nvPr/>
        </p:nvCxnSpPr>
        <p:spPr>
          <a:xfrm>
            <a:off x="3050134" y="742539"/>
            <a:ext cx="870872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645B83-972D-336D-5F30-0432F5C511E2}"/>
              </a:ext>
            </a:extLst>
          </p:cNvPr>
          <p:cNvCxnSpPr/>
          <p:nvPr/>
        </p:nvCxnSpPr>
        <p:spPr>
          <a:xfrm>
            <a:off x="3050133" y="2547276"/>
            <a:ext cx="870872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9BE968-C613-3726-2353-5C4CA5D8447A}"/>
              </a:ext>
            </a:extLst>
          </p:cNvPr>
          <p:cNvCxnSpPr/>
          <p:nvPr/>
        </p:nvCxnSpPr>
        <p:spPr>
          <a:xfrm>
            <a:off x="3050132" y="5779760"/>
            <a:ext cx="870872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Multiplication Sign 1">
            <a:hlinkClick r:id="rId6" action="ppaction://hlinksldjump"/>
            <a:extLst>
              <a:ext uri="{FF2B5EF4-FFF2-40B4-BE49-F238E27FC236}">
                <a16:creationId xmlns:a16="http://schemas.microsoft.com/office/drawing/2014/main" id="{1C08F0F3-DECE-3F60-6D55-24D194062999}"/>
              </a:ext>
            </a:extLst>
          </p:cNvPr>
          <p:cNvSpPr/>
          <p:nvPr/>
        </p:nvSpPr>
        <p:spPr>
          <a:xfrm>
            <a:off x="11551568" y="6489495"/>
            <a:ext cx="500743" cy="32979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C00000"/>
              </a:highlight>
              <a:latin typeface="Swis721 BT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790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0446FD-EA08-4B53-E851-BB53B25F01D2}"/>
              </a:ext>
            </a:extLst>
          </p:cNvPr>
          <p:cNvSpPr txBox="1"/>
          <p:nvPr/>
        </p:nvSpPr>
        <p:spPr>
          <a:xfrm>
            <a:off x="6096000" y="582067"/>
            <a:ext cx="4629580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Swis721 BT" panose="020B0504020202020204" pitchFamily="34" charset="0"/>
              </a:rPr>
              <a:t>1. Objective / Goal (what it does):</a:t>
            </a:r>
            <a:endParaRPr lang="en-US" sz="12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Aggregated visibility for ASMs across the MEs they oversee - patterns, objections, and engagement quality. </a:t>
            </a:r>
            <a:br>
              <a:rPr lang="en-IN" sz="1200" dirty="0">
                <a:latin typeface="Swis721 BT" panose="020B0504020202020204" pitchFamily="34" charset="0"/>
              </a:rPr>
            </a:br>
            <a:endParaRPr lang="en-US" sz="1200" dirty="0">
              <a:latin typeface="Swis721 BT" panose="020B0504020202020204" pitchFamily="34" charset="0"/>
            </a:endParaRPr>
          </a:p>
          <a:p>
            <a:r>
              <a:rPr lang="en-IN" sz="1200" b="1" dirty="0">
                <a:latin typeface="Swis721 BT" panose="020B0504020202020204" pitchFamily="34" charset="0"/>
              </a:rPr>
              <a:t>2. What it contains? (product concept):</a:t>
            </a:r>
            <a:endParaRPr lang="en-US" sz="12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ASM will be able to view high-priority, repeating objections &amp; take actions (Area-level objection patterns)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Ask MEs to focus on specific engagements that address high-priority objections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For low demand outlets, he can ask DGs to increase focus on them</a:t>
            </a:r>
            <a:endParaRPr lang="en-US" sz="12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Retailer morphology (loyal, new, inactive, declining)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 ASM will be able to track how many inactive/ declining retailers are being engaged and ask ME’s to focus on inactive/ declining retailers</a:t>
            </a:r>
            <a:endParaRPr lang="en-US" sz="12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Retailer dimensions (JK alignment, value prop, market awareness, openness, growth potential)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 ASM can ask his MEs to spread market awareness among the retailers if its consistently low.</a:t>
            </a:r>
            <a:endParaRPr lang="en-US" sz="12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ME engagement breakdown</a:t>
            </a:r>
            <a:endParaRPr lang="en-US" sz="12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Daily visit reports of MEs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ME Profile View</a:t>
            </a:r>
            <a:br>
              <a:rPr lang="en-IN" sz="1200" dirty="0">
                <a:latin typeface="Swis721 BT" panose="020B0504020202020204" pitchFamily="34" charset="0"/>
              </a:rPr>
            </a:br>
            <a:endParaRPr lang="en-IN" sz="1200" dirty="0">
              <a:latin typeface="Swis721 BT" panose="020B0504020202020204" pitchFamily="34" charset="0"/>
            </a:endParaRPr>
          </a:p>
          <a:p>
            <a:r>
              <a:rPr lang="en-IN" sz="1200" b="1" dirty="0">
                <a:latin typeface="Swis721 BT" panose="020B0504020202020204" pitchFamily="34" charset="0"/>
              </a:rPr>
              <a:t>3. </a:t>
            </a:r>
            <a:r>
              <a:rPr lang="en-IN" sz="12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Measures / Outcomes</a:t>
            </a:r>
            <a:r>
              <a:rPr lang="en-IN" sz="1200" b="1" dirty="0">
                <a:latin typeface="Swis721 BT" panose="020B0504020202020204" pitchFamily="34" charset="0"/>
              </a:rPr>
              <a:t>:</a:t>
            </a:r>
            <a:endParaRPr lang="en-US" sz="12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ME effectiveness</a:t>
            </a:r>
            <a:endParaRPr lang="en-US" sz="12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Objections reduction rate</a:t>
            </a:r>
            <a:endParaRPr lang="en-US" sz="12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Inactive to active retailer</a:t>
            </a:r>
            <a:endParaRPr lang="en-US" sz="12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Dominant retailer dimensions / leaderboard </a:t>
            </a: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(E.g.:</a:t>
            </a:r>
            <a:r>
              <a:rPr lang="en-IN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IN" sz="10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80% of the retailers in the area are aligned to JK’s vision; This area stands 4</a:t>
            </a:r>
            <a:r>
              <a:rPr lang="en-IN" sz="1000" kern="100" baseline="300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</a:t>
            </a:r>
            <a:r>
              <a:rPr lang="en-IN" sz="10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in the country in terms of alignment to JK’s vision</a:t>
            </a: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endParaRPr lang="en-IN" sz="1200" dirty="0">
              <a:latin typeface="Swis721 BT" panose="020B05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6894CB-4450-674C-8207-10E92704B733}"/>
              </a:ext>
            </a:extLst>
          </p:cNvPr>
          <p:cNvSpPr txBox="1"/>
          <p:nvPr/>
        </p:nvSpPr>
        <p:spPr>
          <a:xfrm>
            <a:off x="452188" y="141513"/>
            <a:ext cx="898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latin typeface="Swis721 BT" panose="020B0504020202020204" pitchFamily="34" charset="0"/>
              </a:rPr>
              <a:t>ASM Analytics Dashboard</a:t>
            </a:r>
          </a:p>
        </p:txBody>
      </p:sp>
      <p:pic>
        <p:nvPicPr>
          <p:cNvPr id="11" name="Picture 10">
            <a:hlinkClick r:id="rId2"/>
            <a:extLst>
              <a:ext uri="{FF2B5EF4-FFF2-40B4-BE49-F238E27FC236}">
                <a16:creationId xmlns:a16="http://schemas.microsoft.com/office/drawing/2014/main" id="{7345FC7E-E5CD-58B5-DEB5-C4E4E4C19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23" y="2267604"/>
            <a:ext cx="4984029" cy="21193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5888DC-9846-40B1-C89D-B8AF5BB09AE5}"/>
              </a:ext>
            </a:extLst>
          </p:cNvPr>
          <p:cNvSpPr txBox="1"/>
          <p:nvPr/>
        </p:nvSpPr>
        <p:spPr>
          <a:xfrm>
            <a:off x="12192000" y="1490008"/>
            <a:ext cx="314597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wis721 BT" panose="020B0504020202020204" pitchFamily="34" charset="0"/>
                <a:ea typeface="+mn-ea"/>
                <a:cs typeface="+mn-cs"/>
              </a:rPr>
              <a:t>4.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wis721 BT" panose="020B0504020202020204" pitchFamily="34" charset="0"/>
                <a:ea typeface="+mn-ea"/>
                <a:cs typeface="+mn-cs"/>
              </a:rPr>
              <a:t>Interaction with other components of the system: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wis721 BT" panose="020B0504020202020204" pitchFamily="34" charset="0"/>
                <a:ea typeface="+mn-ea"/>
                <a:cs typeface="+mn-cs"/>
              </a:rPr>
              <a:t>ME App - Get the daily visit reports of MEs with the retailers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wis721 BT" panose="020B0504020202020204" pitchFamily="34" charset="0"/>
                <a:ea typeface="+mn-ea"/>
                <a:cs typeface="+mn-cs"/>
              </a:rPr>
              <a:t>Retailer Intelligence component - Get the objection analysis data, retailer morphology, retailer dimensions and other measures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wis721 BT" panose="020B0504020202020204" pitchFamily="34" charset="0"/>
                <a:ea typeface="+mn-ea"/>
                <a:cs typeface="+mn-cs"/>
              </a:rPr>
              <a:t>Actionable Improvements – receive nudges</a:t>
            </a:r>
          </a:p>
        </p:txBody>
      </p:sp>
      <p:sp>
        <p:nvSpPr>
          <p:cNvPr id="3" name="Multiplication Sign 2">
            <a:hlinkClick r:id="rId4" action="ppaction://hlinksldjump"/>
            <a:extLst>
              <a:ext uri="{FF2B5EF4-FFF2-40B4-BE49-F238E27FC236}">
                <a16:creationId xmlns:a16="http://schemas.microsoft.com/office/drawing/2014/main" id="{BF4BC9FE-8ED3-73F7-BA65-4D5D86FAEBA3}"/>
              </a:ext>
            </a:extLst>
          </p:cNvPr>
          <p:cNvSpPr/>
          <p:nvPr/>
        </p:nvSpPr>
        <p:spPr>
          <a:xfrm>
            <a:off x="11551568" y="6489495"/>
            <a:ext cx="500743" cy="32979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C00000"/>
              </a:highlight>
              <a:latin typeface="Swis721 BT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297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2D78E1D-E3ED-EFD1-E1CD-32F0A6F0433D}"/>
              </a:ext>
            </a:extLst>
          </p:cNvPr>
          <p:cNvSpPr txBox="1"/>
          <p:nvPr/>
        </p:nvSpPr>
        <p:spPr>
          <a:xfrm>
            <a:off x="5479324" y="649941"/>
            <a:ext cx="6091102" cy="5229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sz="1400" b="1" kern="100" dirty="0">
                <a:effectLst/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Objective / Goal (what it does):</a:t>
            </a:r>
            <a:endParaRPr lang="en-IN" sz="1400" kern="100" dirty="0">
              <a:effectLst/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400" kern="100" dirty="0">
                <a:effectLst/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 enable the leadership to have strategic vision of retailer network and track the quality of engagement at the state/area level to take appropriate actions.</a:t>
            </a:r>
          </a:p>
          <a:p>
            <a:pPr lvl="1"/>
            <a:endParaRPr lang="en-IN" sz="1400" kern="100" dirty="0">
              <a:effectLst/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400" b="1" kern="100" dirty="0">
                <a:effectLst/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What it contains? (product concept):</a:t>
            </a:r>
            <a:endParaRPr lang="en-IN" sz="1400" kern="100" dirty="0">
              <a:effectLst/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400" kern="100" dirty="0">
                <a:effectLst/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Retailer morphology (loyal, new, inactive, declining)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400" kern="100" dirty="0">
                <a:effectLst/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Retailer dimensions (JK alignment, value prop, market awareness, openness, growth potential)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400" kern="100" dirty="0">
                <a:effectLst/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Strategic targeting - smart retailer segments for targeted action </a:t>
            </a:r>
            <a:r>
              <a:rPr lang="en-IN" sz="1400" kern="100" dirty="0">
                <a:latin typeface="Swis721 BT" panose="020B0504020202020204" pitchFamily="34" charset="0"/>
                <a:cs typeface="Arial" panose="020B0604020202020204" pitchFamily="34" charset="0"/>
              </a:rPr>
              <a:t>(E.g.: </a:t>
            </a:r>
            <a:r>
              <a:rPr lang="en-IN" sz="1050" kern="100" dirty="0">
                <a:latin typeface="Swis721 BT" panose="020B0504020202020204" pitchFamily="34" charset="0"/>
                <a:cs typeface="Arial" panose="020B0604020202020204" pitchFamily="34" charset="0"/>
              </a:rPr>
              <a:t>Inactive Retailers with Growth Mindset; Loyal Retailers with Less Growth</a:t>
            </a:r>
            <a:r>
              <a:rPr lang="en-IN" sz="1400" kern="100" dirty="0">
                <a:latin typeface="Swis721 BT" panose="020B0504020202020204" pitchFamily="34" charset="0"/>
                <a:cs typeface="Arial" panose="020B0604020202020204" pitchFamily="34" charset="0"/>
              </a:rPr>
              <a:t>)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400" kern="100" dirty="0">
                <a:effectLst/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ASM-ME engagement breakdown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400" kern="100" dirty="0">
                <a:effectLst/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 profile view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400" kern="100" dirty="0">
                <a:effectLst/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Retailer profile view</a:t>
            </a:r>
          </a:p>
          <a:p>
            <a:pPr lvl="1"/>
            <a:endParaRPr lang="en-IN" sz="1400" kern="100" dirty="0">
              <a:effectLst/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4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Measures / Outcomes:</a:t>
            </a:r>
            <a:endParaRPr lang="en-IN" sz="1400" kern="100" dirty="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4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Area-level and overall ME effectiveness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4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Overall objections reduction rate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4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Inactive to active retailer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4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Dominant retailer dimensions / leaderboard </a:t>
            </a:r>
            <a:r>
              <a:rPr lang="en-IN" sz="1400" kern="100" dirty="0">
                <a:latin typeface="Swis721 BT" panose="020B0504020202020204" pitchFamily="34" charset="0"/>
                <a:cs typeface="Arial" panose="020B0604020202020204" pitchFamily="34" charset="0"/>
              </a:rPr>
              <a:t>(E.g.:</a:t>
            </a:r>
            <a:r>
              <a:rPr lang="en-IN" sz="1200" kern="100" dirty="0">
                <a:latin typeface="Swis721 BT" panose="020B0504020202020204" pitchFamily="34" charset="0"/>
                <a:cs typeface="Arial" panose="020B0604020202020204" pitchFamily="34" charset="0"/>
              </a:rPr>
              <a:t> </a:t>
            </a:r>
            <a:r>
              <a:rPr lang="en-IN" sz="1050" kern="100" dirty="0">
                <a:latin typeface="Swis721 BT" panose="020B0504020202020204" pitchFamily="34" charset="0"/>
                <a:cs typeface="Arial" panose="020B0604020202020204" pitchFamily="34" charset="0"/>
              </a:rPr>
              <a:t>70% of the retailers in the country are aligned to JK’s vision; Rajasthan tops the country in terms of alignment to JK’s vision</a:t>
            </a:r>
            <a:r>
              <a:rPr lang="en-IN" sz="1400" kern="100" dirty="0">
                <a:latin typeface="Swis721 BT" panose="020B0504020202020204" pitchFamily="34" charset="0"/>
                <a:cs typeface="Arial" panose="020B0604020202020204" pitchFamily="34" charset="0"/>
              </a:rPr>
              <a:t>)</a:t>
            </a:r>
          </a:p>
          <a:p>
            <a:pPr lvl="1"/>
            <a:endParaRPr lang="en-IN" sz="1400" kern="100" dirty="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IN" sz="1400" kern="100" dirty="0">
              <a:effectLst/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7D85E-AC5B-E453-FE55-717717E3DDDD}"/>
              </a:ext>
            </a:extLst>
          </p:cNvPr>
          <p:cNvSpPr txBox="1"/>
          <p:nvPr/>
        </p:nvSpPr>
        <p:spPr>
          <a:xfrm>
            <a:off x="621574" y="280609"/>
            <a:ext cx="5277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latin typeface="Swis721 BT" panose="020B0504020202020204" pitchFamily="34" charset="0"/>
              </a:rPr>
              <a:t>Leadership Dashboard</a:t>
            </a: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A01B60BF-1326-B2CD-292D-CE6AD0D54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06" y="1729281"/>
            <a:ext cx="4523432" cy="1877004"/>
          </a:xfrm>
          <a:prstGeom prst="rect">
            <a:avLst/>
          </a:prstGeom>
        </p:spPr>
      </p:pic>
      <p:pic>
        <p:nvPicPr>
          <p:cNvPr id="5" name="Picture 4">
            <a:hlinkClick r:id="rId4"/>
            <a:extLst>
              <a:ext uri="{FF2B5EF4-FFF2-40B4-BE49-F238E27FC236}">
                <a16:creationId xmlns:a16="http://schemas.microsoft.com/office/drawing/2014/main" id="{900F8CE0-4E63-3BCB-9BD2-F308C105A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06" y="3484221"/>
            <a:ext cx="4557886" cy="1730036"/>
          </a:xfrm>
          <a:prstGeom prst="rect">
            <a:avLst/>
          </a:prstGeom>
        </p:spPr>
      </p:pic>
      <p:sp>
        <p:nvSpPr>
          <p:cNvPr id="2" name="Multiplication Sign 1">
            <a:hlinkClick r:id="rId6" action="ppaction://hlinksldjump"/>
            <a:extLst>
              <a:ext uri="{FF2B5EF4-FFF2-40B4-BE49-F238E27FC236}">
                <a16:creationId xmlns:a16="http://schemas.microsoft.com/office/drawing/2014/main" id="{A32054B7-593D-CEF9-8D80-A6ED0087680A}"/>
              </a:ext>
            </a:extLst>
          </p:cNvPr>
          <p:cNvSpPr/>
          <p:nvPr/>
        </p:nvSpPr>
        <p:spPr>
          <a:xfrm>
            <a:off x="11551568" y="6489495"/>
            <a:ext cx="500743" cy="32979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C00000"/>
              </a:highlight>
              <a:latin typeface="Swis721 BT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496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D005F0-D0F9-8C85-1F63-A473EF50F5FE}"/>
              </a:ext>
            </a:extLst>
          </p:cNvPr>
          <p:cNvSpPr txBox="1"/>
          <p:nvPr/>
        </p:nvSpPr>
        <p:spPr>
          <a:xfrm>
            <a:off x="5317063" y="0"/>
            <a:ext cx="6760636" cy="730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Swis721 BT" panose="020B0504020202020204" pitchFamily="34" charset="0"/>
              </a:rPr>
              <a:t>1. Objective / Goal (what it does):</a:t>
            </a:r>
            <a:endParaRPr lang="en-US" sz="1200" dirty="0">
              <a:latin typeface="Swis721 BT" panose="020B0504020202020204" pitchFamily="34" charset="0"/>
            </a:endParaRPr>
          </a:p>
          <a:p>
            <a:pPr lvl="1"/>
            <a:r>
              <a:rPr lang="en-IN" sz="1200" dirty="0">
                <a:latin typeface="Swis721 BT" panose="020B0504020202020204" pitchFamily="34" charset="0"/>
              </a:rPr>
              <a:t>The core backend analytics component to makes the entire system self-sustaining by generating proactive insights &amp; triggers, detects patterns by providing emerging trends.	</a:t>
            </a:r>
            <a:r>
              <a:rPr lang="en-IN" sz="1200" b="1" dirty="0">
                <a:latin typeface="Swis721 BT" panose="020B0504020202020204" pitchFamily="34" charset="0"/>
              </a:rPr>
              <a:t>	</a:t>
            </a:r>
            <a:endParaRPr lang="en-US" sz="1200" dirty="0">
              <a:latin typeface="Swis721 BT" panose="020B0504020202020204" pitchFamily="34" charset="0"/>
            </a:endParaRPr>
          </a:p>
          <a:p>
            <a:r>
              <a:rPr lang="en-IN" sz="1200" b="1" dirty="0">
                <a:latin typeface="Swis721 BT" panose="020B0504020202020204" pitchFamily="34" charset="0"/>
              </a:rPr>
              <a:t>2. What it contains? (product concept):</a:t>
            </a:r>
            <a:endParaRPr lang="en-US" sz="12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Pre-seeded information about the retailers</a:t>
            </a:r>
            <a:endParaRPr lang="en-US" sz="12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Raw data from the ME App post each engagement with the retailer </a:t>
            </a:r>
            <a:endParaRPr lang="en-US" sz="1200" dirty="0">
              <a:latin typeface="Swis721 BT" panose="020B0504020202020204" pitchFamily="34" charset="0"/>
            </a:endParaRPr>
          </a:p>
          <a:p>
            <a:pPr marL="1200150" lvl="2" indent="-285750">
              <a:buFont typeface="+mj-lt"/>
              <a:buAutoNum type="romanLcPeriod"/>
            </a:pPr>
            <a:r>
              <a:rPr lang="en-IN" sz="1200" dirty="0">
                <a:latin typeface="Swis721 BT" panose="020B0504020202020204" pitchFamily="34" charset="0"/>
              </a:rPr>
              <a:t>Objections (</a:t>
            </a:r>
            <a:r>
              <a:rPr lang="en-IN" sz="1200" kern="100" dirty="0">
                <a:latin typeface="Swis721 BT" panose="020B0504020202020204" pitchFamily="34" charset="0"/>
                <a:cs typeface="Arial" panose="020B0604020202020204" pitchFamily="34" charset="0"/>
              </a:rPr>
              <a:t>(E</a:t>
            </a: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.g.: Start with a small trial batch to test actual demand before committing further)</a:t>
            </a:r>
            <a:endParaRPr lang="en-US" sz="1200" dirty="0">
              <a:latin typeface="Swis721 BT" panose="020B0504020202020204" pitchFamily="34" charset="0"/>
            </a:endParaRPr>
          </a:p>
          <a:p>
            <a:pPr marL="1200150" lvl="2" indent="-285750">
              <a:buFont typeface="+mj-lt"/>
              <a:buAutoNum type="romanLcPeriod"/>
            </a:pPr>
            <a:r>
              <a:rPr lang="en-IN" sz="1200" dirty="0">
                <a:latin typeface="Swis721 BT" panose="020B0504020202020204" pitchFamily="34" charset="0"/>
              </a:rPr>
              <a:t>Action points / go-forwards (E.g.: </a:t>
            </a: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I'll try 2–3 relevant SKUs with contractors before the next meeting to see if it works for me)</a:t>
            </a:r>
            <a:endParaRPr lang="en-US" sz="1200" dirty="0">
              <a:latin typeface="Swis721 BT" panose="020B0504020202020204" pitchFamily="34" charset="0"/>
            </a:endParaRPr>
          </a:p>
          <a:p>
            <a:pPr marL="1200150" lvl="2" indent="-285750">
              <a:buFont typeface="+mj-lt"/>
              <a:buAutoNum type="romanLcPeriod"/>
            </a:pPr>
            <a:r>
              <a:rPr lang="en-IN" sz="1200" dirty="0">
                <a:latin typeface="Swis721 BT" panose="020B0504020202020204" pitchFamily="34" charset="0"/>
              </a:rPr>
              <a:t>Key critical feedback</a:t>
            </a:r>
            <a:endParaRPr lang="en-US" sz="1200" dirty="0">
              <a:latin typeface="Swis721 BT" panose="020B0504020202020204" pitchFamily="34" charset="0"/>
            </a:endParaRPr>
          </a:p>
          <a:p>
            <a:pPr marL="1200150" lvl="2" indent="-285750">
              <a:buFont typeface="+mj-lt"/>
              <a:buAutoNum type="romanLcPeriod"/>
            </a:pPr>
            <a:r>
              <a:rPr lang="en-IN" sz="1200" dirty="0">
                <a:latin typeface="Swis721 BT" panose="020B0504020202020204" pitchFamily="34" charset="0"/>
              </a:rPr>
              <a:t>Engagement Duration</a:t>
            </a:r>
            <a:endParaRPr lang="en-US" sz="1200" dirty="0">
              <a:latin typeface="Swis721 BT" panose="020B0504020202020204" pitchFamily="34" charset="0"/>
            </a:endParaRPr>
          </a:p>
          <a:p>
            <a:pPr marL="1200150" lvl="2" indent="-285750">
              <a:buFont typeface="+mj-lt"/>
              <a:buAutoNum type="romanLcPeriod"/>
            </a:pPr>
            <a:r>
              <a:rPr lang="en-IN" sz="1200" dirty="0">
                <a:latin typeface="Swis721 BT" panose="020B0504020202020204" pitchFamily="34" charset="0"/>
              </a:rPr>
              <a:t>Time spent by ME reviewing Retailer snapshot and/or Customized Engagement Plan</a:t>
            </a:r>
            <a:endParaRPr lang="en-US" sz="12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Profiles of ME and ASM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Processed data using available existing data and derived data</a:t>
            </a:r>
            <a:endParaRPr lang="en-US" sz="1200" dirty="0">
              <a:latin typeface="Swis721 BT" panose="020B0504020202020204" pitchFamily="34" charset="0"/>
            </a:endParaRPr>
          </a:p>
          <a:p>
            <a:pPr marL="1200150" lvl="2" indent="-285750">
              <a:buFont typeface="+mj-lt"/>
              <a:buAutoNum type="romanLcPeriod"/>
            </a:pPr>
            <a:r>
              <a:rPr lang="en-IN" sz="1200" dirty="0">
                <a:latin typeface="Swis721 BT" panose="020B0504020202020204" pitchFamily="34" charset="0"/>
              </a:rPr>
              <a:t>Behavioural inputs – Willingness to response, scheme response</a:t>
            </a:r>
            <a:endParaRPr lang="en-US" sz="1200" dirty="0">
              <a:latin typeface="Swis721 BT" panose="020B0504020202020204" pitchFamily="34" charset="0"/>
            </a:endParaRPr>
          </a:p>
          <a:p>
            <a:pPr marL="1200150" lvl="2" indent="-285750">
              <a:buFont typeface="+mj-lt"/>
              <a:buAutoNum type="romanLcPeriod"/>
            </a:pPr>
            <a:r>
              <a:rPr lang="en-IN" sz="1200" dirty="0">
                <a:latin typeface="Swis721 BT" panose="020B0504020202020204" pitchFamily="34" charset="0"/>
              </a:rPr>
              <a:t>Retailer sentiment -competitor push, Credit Stress, Demand</a:t>
            </a:r>
          </a:p>
          <a:p>
            <a:pPr lvl="2"/>
            <a:endParaRPr lang="en-US" sz="1200" dirty="0">
              <a:latin typeface="Swis721 BT" panose="020B05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12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</a:t>
            </a:r>
            <a:r>
              <a:rPr lang="en-IN" sz="12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Measures / Outcomes</a:t>
            </a: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Customized Engagement Plan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Generate the retailer morphology and dimensions(attributes) as well as retailer engagement trends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Generate objection analysis data at an area and overall level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Generate retailer segments for the leadership’s strategic actions.</a:t>
            </a:r>
            <a:b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en-IN" sz="1200" b="1" kern="100" dirty="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IN" sz="1200" b="1" dirty="0">
                <a:latin typeface="Swis721 BT" panose="020B0504020202020204" pitchFamily="34" charset="0"/>
              </a:rPr>
              <a:t>4. Interaction with other components of the system:</a:t>
            </a:r>
            <a:endParaRPr lang="en-US" sz="12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Illumine internal team (or) JK design team - Static data pre-seeding (from outside the system) ??</a:t>
            </a:r>
            <a:endParaRPr lang="en-US" sz="12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ME App - Get data w.r.t objections, retailer action points, key critical feedback; Send back Customized Engagement Plan, core discussion points, retailer dimensions and retailer morphology</a:t>
            </a:r>
            <a:endParaRPr lang="en-US" sz="12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ASM analytics dashboard, leadership dashboard – Send objection analysis data, retailer morphology and retailer dimensions and other measures</a:t>
            </a:r>
            <a:endParaRPr lang="en-US" sz="12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Actionable Improvements – send data on objections, retailer morphologies, dimensions and other measures</a:t>
            </a:r>
            <a:endParaRPr lang="en-US" sz="1200" dirty="0">
              <a:latin typeface="Swis721 BT" panose="020B0504020202020204" pitchFamily="34" charset="0"/>
            </a:endParaRPr>
          </a:p>
          <a:p>
            <a:endParaRPr lang="en-IN" sz="1200" dirty="0">
              <a:latin typeface="Swis721 BT" panose="020B05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141557-AEE6-DD04-1CEB-F777E09EE61D}"/>
              </a:ext>
            </a:extLst>
          </p:cNvPr>
          <p:cNvSpPr txBox="1"/>
          <p:nvPr/>
        </p:nvSpPr>
        <p:spPr>
          <a:xfrm>
            <a:off x="157844" y="291086"/>
            <a:ext cx="898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latin typeface="Swis721 BT" panose="020B0504020202020204" pitchFamily="34" charset="0"/>
              </a:rPr>
              <a:t>Retailer Intelligence Layer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7E9066-DDFC-15CA-6658-850FF6206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80" y="2044629"/>
            <a:ext cx="4940554" cy="2768742"/>
          </a:xfrm>
          <a:prstGeom prst="rect">
            <a:avLst/>
          </a:prstGeom>
        </p:spPr>
      </p:pic>
      <p:sp>
        <p:nvSpPr>
          <p:cNvPr id="2" name="Multiplication Sign 1">
            <a:hlinkClick r:id="rId3" action="ppaction://hlinksldjump"/>
            <a:extLst>
              <a:ext uri="{FF2B5EF4-FFF2-40B4-BE49-F238E27FC236}">
                <a16:creationId xmlns:a16="http://schemas.microsoft.com/office/drawing/2014/main" id="{60731454-BE97-F84E-7DDB-87E70E027305}"/>
              </a:ext>
            </a:extLst>
          </p:cNvPr>
          <p:cNvSpPr/>
          <p:nvPr/>
        </p:nvSpPr>
        <p:spPr>
          <a:xfrm>
            <a:off x="11702142" y="6548370"/>
            <a:ext cx="500743" cy="32979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C00000"/>
              </a:highlight>
              <a:latin typeface="Swis721 BT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706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5A1E03E-A6B4-3E70-743B-50F480765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4DBE7E-6B84-112A-A410-7024A2FCD90E}"/>
              </a:ext>
            </a:extLst>
          </p:cNvPr>
          <p:cNvSpPr txBox="1"/>
          <p:nvPr/>
        </p:nvSpPr>
        <p:spPr>
          <a:xfrm>
            <a:off x="648967" y="1060659"/>
            <a:ext cx="10150084" cy="4552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200" b="1" dirty="0">
                <a:latin typeface="Swis721 BT" panose="020B0504020202020204" pitchFamily="34" charset="0"/>
              </a:rPr>
              <a:t>Objective / Goal (what it does):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To use Retailer intelligence to provide actionable field plans &amp; recommendations for MEs and enable ASMs to nudge the MEs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To move from monitoring-driven performance to reflection-driven improvement</a:t>
            </a:r>
          </a:p>
          <a:p>
            <a:pPr lvl="1"/>
            <a:r>
              <a:rPr lang="en-IN" sz="1200" b="1" dirty="0">
                <a:latin typeface="Swis721 BT" panose="020B0504020202020204" pitchFamily="34" charset="0"/>
              </a:rPr>
              <a:t>	</a:t>
            </a:r>
            <a:endParaRPr lang="en-US" sz="1200" dirty="0">
              <a:latin typeface="Swis721 BT" panose="020B0504020202020204" pitchFamily="34" charset="0"/>
            </a:endParaRPr>
          </a:p>
          <a:p>
            <a:r>
              <a:rPr lang="en-IN" sz="1200" b="1" dirty="0">
                <a:latin typeface="Swis721 BT" panose="020B0504020202020204" pitchFamily="34" charset="0"/>
              </a:rPr>
              <a:t>2. What it contains? (product concept):</a:t>
            </a:r>
            <a:endParaRPr lang="en-US" sz="12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Swis721 BT" panose="020B0504020202020204" pitchFamily="34" charset="0"/>
              </a:rPr>
              <a:t>ME nudge engine which provides preparation nudges before the visit, real time reminders during the visit and reflection and follow through nudges after the visit (</a:t>
            </a:r>
            <a:r>
              <a:rPr lang="en-US" sz="1000" dirty="0">
                <a:latin typeface="Swis721 BT" panose="020B0504020202020204" pitchFamily="34" charset="0"/>
              </a:rPr>
              <a:t>E.g.: You haven’t visited these inactive retailers in a while. Have a look at them</a:t>
            </a:r>
            <a:r>
              <a:rPr lang="en-US" sz="1200" dirty="0">
                <a:latin typeface="Swis721 BT" panose="020B0504020202020204" pitchFamily="34" charset="0"/>
              </a:rPr>
              <a:t>)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latin typeface="Swis721 BT" panose="020B0504020202020204" pitchFamily="34" charset="0"/>
              </a:rPr>
              <a:t>ASM nudges with area wide improvement suggestions, best practices for objection identified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wis721 BT" panose="020B0504020202020204" pitchFamily="34" charset="0"/>
                <a:ea typeface="+mn-ea"/>
                <a:cs typeface="+mn-cs"/>
              </a:rPr>
              <a:t>(</a:t>
            </a:r>
            <a:r>
              <a:rPr lang="en-US" sz="1000" dirty="0">
                <a:latin typeface="Swis721 BT" panose="020B0504020202020204" pitchFamily="34" charset="0"/>
              </a:rPr>
              <a:t>E.g.: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wis721 BT" panose="020B0504020202020204" pitchFamily="34" charset="0"/>
                <a:ea typeface="+mn-ea"/>
                <a:cs typeface="+mn-cs"/>
              </a:rPr>
              <a:t>4</a:t>
            </a:r>
            <a:r>
              <a:rPr lang="en-US" sz="1000" dirty="0">
                <a:solidFill>
                  <a:prstClr val="black"/>
                </a:solidFill>
                <a:latin typeface="Swis721 BT" panose="020B0504020202020204" pitchFamily="34" charset="0"/>
              </a:rPr>
              <a:t>0% of the retailers in your area are reporting ‘No demand’ for JK’s multi-products</a:t>
            </a:r>
            <a:r>
              <a:rPr lang="en-US" sz="1200" dirty="0">
                <a:solidFill>
                  <a:prstClr val="black"/>
                </a:solidFill>
                <a:latin typeface="Swis721 BT" panose="020B0504020202020204" pitchFamily="34" charset="0"/>
              </a:rPr>
              <a:t>)</a:t>
            </a: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200" dirty="0">
              <a:solidFill>
                <a:prstClr val="black"/>
              </a:solidFill>
              <a:latin typeface="Swis721 BT" panose="020B05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12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 </a:t>
            </a:r>
            <a:r>
              <a:rPr lang="en-IN" sz="12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Measures / Outcomes</a:t>
            </a:r>
            <a:r>
              <a:rPr lang="en-US" sz="12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Engagement Unit Coverage: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Objection raised vs Objection addressed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Outcome signals:</a:t>
            </a:r>
          </a:p>
          <a:p>
            <a:pPr marL="1200150" lvl="2" indent="-285750">
              <a:buFont typeface="+mj-lt"/>
              <a:buAutoNum type="romanLcPeriod"/>
            </a:pP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Retailer dimensions and morphological changes</a:t>
            </a:r>
          </a:p>
          <a:p>
            <a:pPr marL="1200150" lvl="2" indent="-285750">
              <a:buFont typeface="+mj-lt"/>
              <a:buAutoNum type="romanLcPeriod"/>
            </a:pP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Adoption rate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Behavioral &amp; Skill signals:</a:t>
            </a:r>
          </a:p>
          <a:p>
            <a:pPr marL="1200150" lvl="2" indent="-285750">
              <a:buFont typeface="+mj-lt"/>
              <a:buAutoNum type="romanLcPeriod"/>
            </a:pP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Active-to-inactive retailers covered</a:t>
            </a:r>
          </a:p>
          <a:p>
            <a:pPr marL="1200150" lvl="2" indent="-285750">
              <a:buFont typeface="+mj-lt"/>
              <a:buAutoNum type="romanLcPeriod"/>
            </a:pP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Loyal-to-inactive retailers covered</a:t>
            </a:r>
          </a:p>
          <a:p>
            <a:pPr marL="1200150" lvl="2" indent="-285750">
              <a:buFont typeface="+mj-lt"/>
              <a:buAutoNum type="romanLcPeriod"/>
            </a:pP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Repeated avoidance of certain engagement units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Area-level signals:</a:t>
            </a:r>
          </a:p>
          <a:p>
            <a:pPr marL="1200150" lvl="2" indent="-285750">
              <a:buFont typeface="+mj-lt"/>
              <a:buAutoNum type="romanLcPeriod"/>
            </a:pP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Engagement unit effectiveness</a:t>
            </a:r>
            <a:endParaRPr lang="en-IN" sz="1200" dirty="0">
              <a:latin typeface="Swis721 BT" panose="020B0504020202020204" pitchFamily="34" charset="0"/>
            </a:endParaRPr>
          </a:p>
          <a:p>
            <a:pPr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wis721 BT" panose="020B0504020202020204" pitchFamily="34" charset="0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200" dirty="0">
              <a:latin typeface="Swis721 BT" panose="020B05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042C40-28E3-93B8-0DC4-38AE6010FECE}"/>
              </a:ext>
            </a:extLst>
          </p:cNvPr>
          <p:cNvSpPr txBox="1"/>
          <p:nvPr/>
        </p:nvSpPr>
        <p:spPr>
          <a:xfrm>
            <a:off x="114301" y="432600"/>
            <a:ext cx="898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latin typeface="Swis721 BT" panose="020B0504020202020204" pitchFamily="34" charset="0"/>
              </a:rPr>
              <a:t>Nudges/Campaigns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F4271-7D42-5A63-CC0F-49676CE44642}"/>
              </a:ext>
            </a:extLst>
          </p:cNvPr>
          <p:cNvSpPr txBox="1"/>
          <p:nvPr/>
        </p:nvSpPr>
        <p:spPr>
          <a:xfrm>
            <a:off x="12192000" y="1571937"/>
            <a:ext cx="3252439" cy="328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IN" sz="1200" b="1">
                <a:latin typeface="Swis721 BT" panose="020B0504020202020204" pitchFamily="34" charset="0"/>
              </a:rPr>
              <a:t>4. </a:t>
            </a:r>
            <a:r>
              <a:rPr lang="en-US" sz="1200" b="1">
                <a:latin typeface="Swis721 BT" panose="020B0504020202020204" pitchFamily="34" charset="0"/>
              </a:rPr>
              <a:t>Interaction with other components of the system: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>
                <a:latin typeface="Swis721 BT" panose="020B0504020202020204" pitchFamily="34" charset="0"/>
              </a:rPr>
              <a:t>ME App - send nudges before, during, and after an engagement visit; send nudges based on his retailer morphologies covered so far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>
                <a:latin typeface="Swis721 BT" panose="020B0504020202020204" pitchFamily="34" charset="0"/>
              </a:rPr>
              <a:t>ASM analytics dashboard, leadership dashboard – Gives nudges to the ASM and leadership on objections addressal action points completion and ground level insights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>
                <a:latin typeface="Swis721 BT" panose="020B0504020202020204" pitchFamily="34" charset="0"/>
              </a:rPr>
              <a:t>Retailer Intelligence – get data on objections, retailer morphologies, dimensions and ground level insights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>
                <a:latin typeface="Swis721 BT" panose="020B0504020202020204" pitchFamily="34" charset="0"/>
              </a:rPr>
              <a:t>Continuous Improvement Layer - get improvement triggers and redesign nudges</a:t>
            </a:r>
          </a:p>
        </p:txBody>
      </p:sp>
      <p:sp>
        <p:nvSpPr>
          <p:cNvPr id="5" name="Multiplication Sign 4">
            <a:hlinkClick r:id="rId2" action="ppaction://hlinksldjump"/>
            <a:extLst>
              <a:ext uri="{FF2B5EF4-FFF2-40B4-BE49-F238E27FC236}">
                <a16:creationId xmlns:a16="http://schemas.microsoft.com/office/drawing/2014/main" id="{451A4559-FBB6-B176-9289-6E6C558520CD}"/>
              </a:ext>
            </a:extLst>
          </p:cNvPr>
          <p:cNvSpPr/>
          <p:nvPr/>
        </p:nvSpPr>
        <p:spPr>
          <a:xfrm>
            <a:off x="11702142" y="6548370"/>
            <a:ext cx="500743" cy="32979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C00000"/>
              </a:highlight>
              <a:latin typeface="Swis721 BT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57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80E68EB-AEB6-D343-C567-B5F3C06E4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B8188F-4577-F188-6F3A-3566BF5A5E70}"/>
              </a:ext>
            </a:extLst>
          </p:cNvPr>
          <p:cNvSpPr txBox="1"/>
          <p:nvPr/>
        </p:nvSpPr>
        <p:spPr>
          <a:xfrm>
            <a:off x="1512644" y="581215"/>
            <a:ext cx="9166711" cy="542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Swis721 BT" panose="020B0504020202020204" pitchFamily="34" charset="0"/>
              </a:rPr>
              <a:t>1. Objective / Goal (what it does):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Swis721 BT" panose="020B0504020202020204" pitchFamily="34" charset="0"/>
              </a:rPr>
              <a:t>To ensure Retailer Engagement System itself evolves based on field reality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Swis721 BT" panose="020B0504020202020204" pitchFamily="34" charset="0"/>
              </a:rPr>
              <a:t>Converts thousands of engagement instances into system-level learning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Swis721 BT" panose="020B0504020202020204" pitchFamily="34" charset="0"/>
              </a:rPr>
              <a:t>Continuously refine: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Swis721 BT" panose="020B0504020202020204" pitchFamily="34" charset="0"/>
              </a:rPr>
              <a:t>Engagement units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Swis721 BT" panose="020B0504020202020204" pitchFamily="34" charset="0"/>
              </a:rPr>
              <a:t>Conversation structure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Swis721 BT" panose="020B0504020202020204" pitchFamily="34" charset="0"/>
              </a:rPr>
              <a:t>Objection Handling logic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Swis721 BT" panose="020B0504020202020204" pitchFamily="34" charset="0"/>
              </a:rPr>
              <a:t>Retailer action playbook</a:t>
            </a:r>
            <a:endParaRPr lang="en-IN" sz="1400" b="1" dirty="0">
              <a:latin typeface="Swis721 BT" panose="020B0504020202020204" pitchFamily="34" charset="0"/>
            </a:endParaRPr>
          </a:p>
          <a:p>
            <a:pPr lvl="2"/>
            <a:endParaRPr lang="en-US" sz="1400" dirty="0">
              <a:latin typeface="Swis721 BT" panose="020B0504020202020204" pitchFamily="34" charset="0"/>
            </a:endParaRPr>
          </a:p>
          <a:p>
            <a:r>
              <a:rPr lang="en-IN" sz="1400" b="1" dirty="0">
                <a:latin typeface="Swis721 BT" panose="020B0504020202020204" pitchFamily="34" charset="0"/>
              </a:rPr>
              <a:t>2. What it contains? (product concept):</a:t>
            </a:r>
            <a:endParaRPr lang="en-US" sz="14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Swis721 BT" panose="020B0504020202020204" pitchFamily="34" charset="0"/>
              </a:rPr>
              <a:t>Engagement performance review engine: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Swis721 BT" panose="020B0504020202020204" pitchFamily="34" charset="0"/>
              </a:rPr>
              <a:t>How Engagement units are being used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Swis721 BT" panose="020B0504020202020204" pitchFamily="34" charset="0"/>
              </a:rPr>
              <a:t>Where conversations succeed or stall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Swis721 BT" panose="020B0504020202020204" pitchFamily="34" charset="0"/>
              </a:rPr>
              <a:t>Which engagement constructs are weakening over time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Swis721 BT" panose="020B0504020202020204" pitchFamily="34" charset="0"/>
              </a:rPr>
              <a:t>Pattern Diagnosis and root-cause layer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Swis721 BT" panose="020B0504020202020204" pitchFamily="34" charset="0"/>
              </a:rPr>
              <a:t>Engagement units showing declining effectiveness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Swis721 BT" panose="020B0504020202020204" pitchFamily="34" charset="0"/>
              </a:rPr>
              <a:t>High effort but low/no improvement Objections</a:t>
            </a:r>
          </a:p>
          <a:p>
            <a:pPr lvl="1"/>
            <a:endParaRPr lang="en-US" sz="1400" dirty="0">
              <a:latin typeface="Swis721 BT" panose="020B05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14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 </a:t>
            </a:r>
            <a:r>
              <a:rPr lang="en-IN" sz="14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Measures / Outcomes</a:t>
            </a:r>
            <a:r>
              <a:rPr lang="en-US" sz="14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4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Design effectiveness measures</a:t>
            </a:r>
          </a:p>
          <a:p>
            <a:pPr marL="1200150" lvl="2" indent="-285750">
              <a:lnSpc>
                <a:spcPct val="115000"/>
              </a:lnSpc>
              <a:buFont typeface="+mj-lt"/>
              <a:buAutoNum type="romanLcPeriod"/>
            </a:pPr>
            <a:r>
              <a:rPr lang="en-US" sz="14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Engagement unit – outcome conversion rates</a:t>
            </a:r>
          </a:p>
          <a:p>
            <a:pPr marL="1200150" lvl="2" indent="-285750">
              <a:lnSpc>
                <a:spcPct val="115000"/>
              </a:lnSpc>
              <a:buFont typeface="+mj-lt"/>
              <a:buAutoNum type="romanLcPeriod"/>
            </a:pPr>
            <a:r>
              <a:rPr lang="en-US" sz="14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Objection type – Stall or progress outcome</a:t>
            </a:r>
          </a:p>
          <a:p>
            <a:pPr lvl="2">
              <a:lnSpc>
                <a:spcPct val="115000"/>
              </a:lnSpc>
            </a:pPr>
            <a:endParaRPr lang="en-US" sz="1400" kern="100" dirty="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lvl="1"/>
            <a:endParaRPr lang="en-US" sz="1400" dirty="0">
              <a:latin typeface="Swis721 BT" panose="020B05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C3FB61-D897-53CE-E7AD-532292A2CC09}"/>
              </a:ext>
            </a:extLst>
          </p:cNvPr>
          <p:cNvSpPr txBox="1"/>
          <p:nvPr/>
        </p:nvSpPr>
        <p:spPr>
          <a:xfrm>
            <a:off x="130067" y="211883"/>
            <a:ext cx="898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latin typeface="Swis721 BT" panose="020B0504020202020204" pitchFamily="34" charset="0"/>
              </a:rPr>
              <a:t>Continuous Evolution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4BF0E3-AC53-6B0B-75B6-84C4A9CA4AFB}"/>
              </a:ext>
            </a:extLst>
          </p:cNvPr>
          <p:cNvSpPr txBox="1"/>
          <p:nvPr/>
        </p:nvSpPr>
        <p:spPr>
          <a:xfrm>
            <a:off x="12366701" y="1519350"/>
            <a:ext cx="3420303" cy="2537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IN" sz="1400" b="1">
                <a:latin typeface="Swis721 BT" panose="020B0504020202020204" pitchFamily="34" charset="0"/>
              </a:rPr>
              <a:t>4. </a:t>
            </a:r>
            <a:r>
              <a:rPr lang="en-US" sz="1400" b="1">
                <a:latin typeface="Swis721 BT" panose="020B0504020202020204" pitchFamily="34" charset="0"/>
              </a:rPr>
              <a:t>Interaction with other components of the system: 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Swis721 BT" panose="020B0504020202020204" pitchFamily="34" charset="0"/>
              </a:rPr>
              <a:t>Retailer Intelligence - extract raw engagement performance data; send updated engagement units, revised objection handling logic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Swis721 BT" panose="020B0504020202020204" pitchFamily="34" charset="0"/>
              </a:rPr>
              <a:t>Actionable Improvements -Sends improvement triggers and redesign nudges.</a:t>
            </a:r>
          </a:p>
          <a:p>
            <a:endParaRPr lang="en-US" sz="1400">
              <a:latin typeface="Swis721 BT" panose="020B0504020202020204" pitchFamily="34" charset="0"/>
            </a:endParaRPr>
          </a:p>
        </p:txBody>
      </p:sp>
      <p:sp>
        <p:nvSpPr>
          <p:cNvPr id="5" name="Multiplication Sign 4">
            <a:hlinkClick r:id="rId2" action="ppaction://hlinksldjump"/>
            <a:extLst>
              <a:ext uri="{FF2B5EF4-FFF2-40B4-BE49-F238E27FC236}">
                <a16:creationId xmlns:a16="http://schemas.microsoft.com/office/drawing/2014/main" id="{24E4970B-6A35-87B6-79EB-919499F54C8B}"/>
              </a:ext>
            </a:extLst>
          </p:cNvPr>
          <p:cNvSpPr/>
          <p:nvPr/>
        </p:nvSpPr>
        <p:spPr>
          <a:xfrm>
            <a:off x="11702142" y="6548370"/>
            <a:ext cx="500743" cy="32979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C00000"/>
              </a:highlight>
              <a:latin typeface="Swis721 BT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287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31F7E-9EC1-26F0-6636-4D0AEE7F3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8E05F7-8AC3-DEFA-F87E-4B9EA9A6FC40}"/>
              </a:ext>
            </a:extLst>
          </p:cNvPr>
          <p:cNvSpPr txBox="1"/>
          <p:nvPr/>
        </p:nvSpPr>
        <p:spPr>
          <a:xfrm>
            <a:off x="555078" y="553533"/>
            <a:ext cx="898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Swis721 BT" panose="020B0504020202020204" pitchFamily="34" charset="0"/>
              </a:rPr>
              <a:t>Market Discovery Systemic components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E76CC3B-BEDA-3A2D-F31C-75C773EE4DA3}"/>
              </a:ext>
            </a:extLst>
          </p:cNvPr>
          <p:cNvSpPr txBox="1"/>
          <p:nvPr/>
        </p:nvSpPr>
        <p:spPr>
          <a:xfrm>
            <a:off x="10336425" y="3126687"/>
            <a:ext cx="17850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>
                <a:latin typeface="Swis721 BT" panose="020B0504020202020204" pitchFamily="34" charset="0"/>
              </a:rPr>
              <a:t>Continuous Evolution </a:t>
            </a:r>
            <a:br>
              <a:rPr lang="en-IN" b="1">
                <a:latin typeface="Swis721 BT" panose="020B0504020202020204" pitchFamily="34" charset="0"/>
              </a:rPr>
            </a:br>
            <a:r>
              <a:rPr lang="en-IN" sz="1200" b="1">
                <a:latin typeface="Swis721 BT" panose="020B0504020202020204" pitchFamily="34" charset="0"/>
              </a:rPr>
              <a:t>(Ongoing Improvement Layer)</a:t>
            </a:r>
            <a:endParaRPr lang="en-IN" sz="1600" b="1">
              <a:latin typeface="Swis721 BT" panose="020B0504020202020204" pitchFamily="34" charset="0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F084BD5-1848-88A5-AD1A-4C2972B7E117}"/>
              </a:ext>
            </a:extLst>
          </p:cNvPr>
          <p:cNvSpPr/>
          <p:nvPr/>
        </p:nvSpPr>
        <p:spPr>
          <a:xfrm>
            <a:off x="10216322" y="3185822"/>
            <a:ext cx="235536" cy="2355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ysClr val="windowText" lastClr="000000"/>
                </a:solidFill>
                <a:latin typeface="Swis721 BT" panose="020B0504020202020204" pitchFamily="34" charset="0"/>
              </a:rPr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60C851-86A1-5043-A811-DD79608D1AAB}"/>
              </a:ext>
            </a:extLst>
          </p:cNvPr>
          <p:cNvSpPr txBox="1"/>
          <p:nvPr/>
        </p:nvSpPr>
        <p:spPr>
          <a:xfrm>
            <a:off x="1040981" y="3126687"/>
            <a:ext cx="958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Swis721 BT" panose="020B0504020202020204" pitchFamily="34" charset="0"/>
              </a:rPr>
              <a:t>DG App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EDD9E1-9E2B-3C7C-B4C7-4636C9E14BB5}"/>
              </a:ext>
            </a:extLst>
          </p:cNvPr>
          <p:cNvSpPr/>
          <p:nvPr/>
        </p:nvSpPr>
        <p:spPr>
          <a:xfrm>
            <a:off x="1211709" y="3512970"/>
            <a:ext cx="694413" cy="114373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Swis721 BT" panose="020B05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0215FDF-5890-E5DC-55D7-3E20CF5FB22E}"/>
              </a:ext>
            </a:extLst>
          </p:cNvPr>
          <p:cNvGrpSpPr>
            <a:grpSpLocks/>
          </p:cNvGrpSpPr>
          <p:nvPr/>
        </p:nvGrpSpPr>
        <p:grpSpPr bwMode="auto">
          <a:xfrm>
            <a:off x="713598" y="3902202"/>
            <a:ext cx="182296" cy="315314"/>
            <a:chOff x="296412" y="281611"/>
            <a:chExt cx="400104" cy="738644"/>
          </a:xfrm>
          <a:solidFill>
            <a:schemeClr val="bg1">
              <a:lumMod val="65000"/>
            </a:schemeClr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C7B71C-3D88-7CF0-1184-565E4D0DD595}"/>
                </a:ext>
              </a:extLst>
            </p:cNvPr>
            <p:cNvSpPr/>
            <p:nvPr/>
          </p:nvSpPr>
          <p:spPr>
            <a:xfrm>
              <a:off x="359491" y="281611"/>
              <a:ext cx="273945" cy="2751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Swis721 BT" panose="020B0504020202020204" pitchFamily="34" charset="0"/>
              </a:endParaRPr>
            </a:p>
          </p:txBody>
        </p:sp>
        <p:sp>
          <p:nvSpPr>
            <p:cNvPr id="10" name="Flowchart: Delay 9">
              <a:extLst>
                <a:ext uri="{FF2B5EF4-FFF2-40B4-BE49-F238E27FC236}">
                  <a16:creationId xmlns:a16="http://schemas.microsoft.com/office/drawing/2014/main" id="{5D0AAEE9-93E0-400F-817A-B526B8CED1D9}"/>
                </a:ext>
              </a:extLst>
            </p:cNvPr>
            <p:cNvSpPr/>
            <p:nvPr/>
          </p:nvSpPr>
          <p:spPr>
            <a:xfrm rot="16200000">
              <a:off x="329915" y="570132"/>
              <a:ext cx="329493" cy="295572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Swis721 BT" panose="020B0504020202020204" pitchFamily="34" charset="0"/>
              </a:endParaRPr>
            </a:p>
          </p:txBody>
        </p:sp>
        <p:grpSp>
          <p:nvGrpSpPr>
            <p:cNvPr id="11" name="Group 126">
              <a:extLst>
                <a:ext uri="{FF2B5EF4-FFF2-40B4-BE49-F238E27FC236}">
                  <a16:creationId xmlns:a16="http://schemas.microsoft.com/office/drawing/2014/main" id="{9C4F0CBC-C6F2-84EB-7612-FA3B8924B026}"/>
                </a:ext>
              </a:extLst>
            </p:cNvPr>
            <p:cNvGrpSpPr/>
            <p:nvPr/>
          </p:nvGrpSpPr>
          <p:grpSpPr>
            <a:xfrm>
              <a:off x="296412" y="615207"/>
              <a:ext cx="400104" cy="405048"/>
              <a:chOff x="1988052" y="4298715"/>
              <a:chExt cx="400104" cy="405048"/>
            </a:xfrm>
            <a:grpFill/>
          </p:grpSpPr>
          <p:sp>
            <p:nvSpPr>
              <p:cNvPr id="12" name="Flowchart: Delay 11">
                <a:extLst>
                  <a:ext uri="{FF2B5EF4-FFF2-40B4-BE49-F238E27FC236}">
                    <a16:creationId xmlns:a16="http://schemas.microsoft.com/office/drawing/2014/main" id="{98CE7EED-923D-E9AF-BEB1-561E815E70B0}"/>
                  </a:ext>
                </a:extLst>
              </p:cNvPr>
              <p:cNvSpPr/>
              <p:nvPr/>
            </p:nvSpPr>
            <p:spPr>
              <a:xfrm rot="16200000">
                <a:off x="2021286" y="4390233"/>
                <a:ext cx="330200" cy="296860"/>
              </a:xfrm>
              <a:prstGeom prst="flowChartDelay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Swis721 BT" panose="020B0504020202020204" pitchFamily="34" charset="0"/>
                </a:endParaRPr>
              </a:p>
            </p:txBody>
          </p:sp>
          <p:sp>
            <p:nvSpPr>
              <p:cNvPr id="13" name="Rounded Rectangle 147">
                <a:extLst>
                  <a:ext uri="{FF2B5EF4-FFF2-40B4-BE49-F238E27FC236}">
                    <a16:creationId xmlns:a16="http://schemas.microsoft.com/office/drawing/2014/main" id="{D8ED012B-EFCE-938A-24D6-3C88EDF86B15}"/>
                  </a:ext>
                </a:extLst>
              </p:cNvPr>
              <p:cNvSpPr/>
              <p:nvPr/>
            </p:nvSpPr>
            <p:spPr>
              <a:xfrm rot="3475501">
                <a:off x="2193530" y="4401210"/>
                <a:ext cx="290772" cy="984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Swis721 BT" panose="020B0504020202020204" pitchFamily="34" charset="0"/>
                </a:endParaRPr>
              </a:p>
            </p:txBody>
          </p:sp>
          <p:sp>
            <p:nvSpPr>
              <p:cNvPr id="14" name="Rounded Rectangle 148">
                <a:extLst>
                  <a:ext uri="{FF2B5EF4-FFF2-40B4-BE49-F238E27FC236}">
                    <a16:creationId xmlns:a16="http://schemas.microsoft.com/office/drawing/2014/main" id="{3E407224-B626-4C8E-DA4D-13DD0D6CE741}"/>
                  </a:ext>
                </a:extLst>
              </p:cNvPr>
              <p:cNvSpPr/>
              <p:nvPr/>
            </p:nvSpPr>
            <p:spPr>
              <a:xfrm rot="18124499" flipV="1">
                <a:off x="1891907" y="4394860"/>
                <a:ext cx="290772" cy="984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Swis721 BT" panose="020B0504020202020204" pitchFamily="34" charset="0"/>
                </a:endParaRPr>
              </a:p>
            </p:txBody>
          </p:sp>
        </p:grp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3F73854-2C18-B1B8-7B27-C1182EA701EE}"/>
              </a:ext>
            </a:extLst>
          </p:cNvPr>
          <p:cNvSpPr txBox="1"/>
          <p:nvPr/>
        </p:nvSpPr>
        <p:spPr>
          <a:xfrm>
            <a:off x="555078" y="4282272"/>
            <a:ext cx="485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Swis721 BT" panose="020B0504020202020204" pitchFamily="34" charset="0"/>
              </a:rPr>
              <a:t>DG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A577A05-2A8E-14FD-65DE-3F4453A28064}"/>
              </a:ext>
            </a:extLst>
          </p:cNvPr>
          <p:cNvSpPr/>
          <p:nvPr/>
        </p:nvSpPr>
        <p:spPr>
          <a:xfrm>
            <a:off x="895894" y="3197306"/>
            <a:ext cx="203421" cy="203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ysClr val="windowText" lastClr="000000"/>
                </a:solidFill>
                <a:latin typeface="Swis721 BT" panose="020B0504020202020204" pitchFamily="34" charset="0"/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FB4C24-5DCC-B364-F33B-7E8B6D33E2F5}"/>
              </a:ext>
            </a:extLst>
          </p:cNvPr>
          <p:cNvSpPr txBox="1"/>
          <p:nvPr/>
        </p:nvSpPr>
        <p:spPr>
          <a:xfrm>
            <a:off x="3073628" y="1333658"/>
            <a:ext cx="19096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>
                <a:latin typeface="Swis721 BT" panose="020B0504020202020204" pitchFamily="34" charset="0"/>
              </a:rPr>
              <a:t>ASM Dashboard</a:t>
            </a:r>
            <a:br>
              <a:rPr lang="en-IN" sz="1600" b="1">
                <a:latin typeface="Swis721 BT" panose="020B0504020202020204" pitchFamily="34" charset="0"/>
              </a:rPr>
            </a:br>
            <a:r>
              <a:rPr lang="en-IN" sz="1200" b="1">
                <a:latin typeface="Swis721 BT" panose="020B0504020202020204" pitchFamily="34" charset="0"/>
              </a:rPr>
              <a:t>(Tactical Decision Layer)</a:t>
            </a:r>
            <a:endParaRPr lang="en-IN" sz="1600" b="1">
              <a:latin typeface="Swis721 BT" panose="020B05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D6CBB3-AF61-F5C2-B368-52E8E424B3B0}"/>
              </a:ext>
            </a:extLst>
          </p:cNvPr>
          <p:cNvSpPr/>
          <p:nvPr/>
        </p:nvSpPr>
        <p:spPr>
          <a:xfrm>
            <a:off x="3073628" y="1988533"/>
            <a:ext cx="1522714" cy="80401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Swis721 BT" panose="020B0504020202020204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1B9A2AB-B37F-3AAD-D38C-EDA1A02AA2A8}"/>
              </a:ext>
            </a:extLst>
          </p:cNvPr>
          <p:cNvSpPr/>
          <p:nvPr/>
        </p:nvSpPr>
        <p:spPr>
          <a:xfrm>
            <a:off x="2870207" y="1431899"/>
            <a:ext cx="203421" cy="203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ysClr val="windowText" lastClr="000000"/>
                </a:solidFill>
                <a:latin typeface="Swis721 BT" panose="020B0504020202020204" pitchFamily="34" charset="0"/>
              </a:rPr>
              <a:t>2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482EFC85-E2F7-CA38-B906-F642CBD4A39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885698" y="2057064"/>
            <a:ext cx="755684" cy="140924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Graphic 30" descr="List with solid fill">
            <a:extLst>
              <a:ext uri="{FF2B5EF4-FFF2-40B4-BE49-F238E27FC236}">
                <a16:creationId xmlns:a16="http://schemas.microsoft.com/office/drawing/2014/main" id="{AA7F6EE5-0538-6B09-DFE8-C12CCA2E76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9501" y="1906223"/>
            <a:ext cx="374392" cy="37439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FE63ED3-2E98-ED27-9AF1-C3FBB14796EB}"/>
              </a:ext>
            </a:extLst>
          </p:cNvPr>
          <p:cNvSpPr txBox="1"/>
          <p:nvPr/>
        </p:nvSpPr>
        <p:spPr>
          <a:xfrm>
            <a:off x="244681" y="1818950"/>
            <a:ext cx="2078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latin typeface="Swis721 BT" panose="020B0504020202020204" pitchFamily="34" charset="0"/>
              </a:rPr>
              <a:t>Cluster Reports</a:t>
            </a:r>
          </a:p>
          <a:p>
            <a:pPr algn="ctr"/>
            <a:r>
              <a:rPr lang="en-IN" sz="1200" dirty="0">
                <a:latin typeface="Swis721 BT" panose="020B0504020202020204" pitchFamily="34" charset="0"/>
              </a:rPr>
              <a:t>Cluster Engagement Plans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A0C493A-6D00-AFA7-6F4A-25D6C5C8AB01}"/>
              </a:ext>
            </a:extLst>
          </p:cNvPr>
          <p:cNvSpPr txBox="1"/>
          <p:nvPr/>
        </p:nvSpPr>
        <p:spPr>
          <a:xfrm>
            <a:off x="1936195" y="4278741"/>
            <a:ext cx="874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Swis721 BT" panose="020B0504020202020204" pitchFamily="34" charset="0"/>
              </a:rPr>
              <a:t>Market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2BB8C27-8DEF-1F83-168C-D2E02491B3AD}"/>
              </a:ext>
            </a:extLst>
          </p:cNvPr>
          <p:cNvSpPr txBox="1"/>
          <p:nvPr/>
        </p:nvSpPr>
        <p:spPr>
          <a:xfrm>
            <a:off x="6297557" y="1272909"/>
            <a:ext cx="23964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>
                <a:latin typeface="Swis721 BT" panose="020B0504020202020204" pitchFamily="34" charset="0"/>
              </a:rPr>
              <a:t>Leadership Dashboard </a:t>
            </a:r>
            <a:br>
              <a:rPr lang="en-IN" sz="1600" b="1">
                <a:latin typeface="Swis721 BT" panose="020B0504020202020204" pitchFamily="34" charset="0"/>
              </a:rPr>
            </a:br>
            <a:r>
              <a:rPr lang="en-IN" sz="1200" b="1">
                <a:latin typeface="Swis721 BT" panose="020B0504020202020204" pitchFamily="34" charset="0"/>
              </a:rPr>
              <a:t>(Strategic Intelligence Layer)</a:t>
            </a:r>
            <a:endParaRPr lang="en-IN" sz="1600" b="1">
              <a:latin typeface="Swis721 BT" panose="020B05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16C64C6-FAB0-93FC-72A0-DDC0DACAFEB2}"/>
              </a:ext>
            </a:extLst>
          </p:cNvPr>
          <p:cNvSpPr/>
          <p:nvPr/>
        </p:nvSpPr>
        <p:spPr>
          <a:xfrm>
            <a:off x="6735296" y="1923278"/>
            <a:ext cx="1522714" cy="80401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Swis721 BT" panose="020B0504020202020204" pitchFamily="34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C47DCE7E-0D16-4226-6A77-DE89D8C6AF60}"/>
              </a:ext>
            </a:extLst>
          </p:cNvPr>
          <p:cNvSpPr/>
          <p:nvPr/>
        </p:nvSpPr>
        <p:spPr>
          <a:xfrm>
            <a:off x="6094136" y="1376496"/>
            <a:ext cx="203421" cy="2034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ysClr val="windowText" lastClr="000000"/>
                </a:solidFill>
                <a:latin typeface="Swis721 BT" panose="020B0504020202020204" pitchFamily="34" charset="0"/>
              </a:rPr>
              <a:t>3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EEF4B97B-885C-A865-8DBB-0D9539EF0E73}"/>
              </a:ext>
            </a:extLst>
          </p:cNvPr>
          <p:cNvGrpSpPr/>
          <p:nvPr/>
        </p:nvGrpSpPr>
        <p:grpSpPr>
          <a:xfrm>
            <a:off x="8510644" y="5050628"/>
            <a:ext cx="1374578" cy="954107"/>
            <a:chOff x="8473260" y="4438768"/>
            <a:chExt cx="1374578" cy="954107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5CA82CF-39CF-A145-AB58-A7C5B6F03E8E}"/>
                </a:ext>
              </a:extLst>
            </p:cNvPr>
            <p:cNvSpPr txBox="1"/>
            <p:nvPr/>
          </p:nvSpPr>
          <p:spPr>
            <a:xfrm>
              <a:off x="8473260" y="4438768"/>
              <a:ext cx="137457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>
                  <a:latin typeface="Swis721 BT" panose="020B0504020202020204" pitchFamily="34" charset="0"/>
                </a:rPr>
                <a:t>Nudges / Campaigns</a:t>
              </a:r>
              <a:br>
                <a:rPr lang="en-IN" sz="1600" b="1">
                  <a:latin typeface="Swis721 BT" panose="020B0504020202020204" pitchFamily="34" charset="0"/>
                </a:rPr>
              </a:br>
              <a:r>
                <a:rPr lang="en-IN" sz="1200" b="1">
                  <a:latin typeface="Swis721 BT" panose="020B0504020202020204" pitchFamily="34" charset="0"/>
                </a:rPr>
                <a:t>(Execution Layer)</a:t>
              </a:r>
              <a:endParaRPr lang="en-IN" sz="1600" b="1">
                <a:latin typeface="Swis721 BT" panose="020B0504020202020204" pitchFamily="34" charset="0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1CE49E1B-8A09-E85B-C921-F3B449601726}"/>
                </a:ext>
              </a:extLst>
            </p:cNvPr>
            <p:cNvSpPr/>
            <p:nvPr/>
          </p:nvSpPr>
          <p:spPr>
            <a:xfrm>
              <a:off x="8501068" y="4562614"/>
              <a:ext cx="142812" cy="14281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solidFill>
                    <a:sysClr val="windowText" lastClr="000000"/>
                  </a:solidFill>
                  <a:latin typeface="Swis721 BT" panose="020B0504020202020204" pitchFamily="34" charset="0"/>
                </a:rPr>
                <a:t>5</a:t>
              </a:r>
            </a:p>
          </p:txBody>
        </p:sp>
      </p:grp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6ABF805-C4C6-F8A0-C67E-1AC2CD6100BE}"/>
              </a:ext>
            </a:extLst>
          </p:cNvPr>
          <p:cNvCxnSpPr/>
          <p:nvPr/>
        </p:nvCxnSpPr>
        <p:spPr>
          <a:xfrm>
            <a:off x="4874150" y="2383846"/>
            <a:ext cx="15227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74716DBA-7EBF-D7DA-22FB-BF59ED614CDA}"/>
              </a:ext>
            </a:extLst>
          </p:cNvPr>
          <p:cNvSpPr txBox="1"/>
          <p:nvPr/>
        </p:nvSpPr>
        <p:spPr>
          <a:xfrm>
            <a:off x="5065233" y="1947538"/>
            <a:ext cx="11387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latin typeface="Swis721 BT" panose="020B0504020202020204" pitchFamily="34" charset="0"/>
              </a:rPr>
              <a:t>∑  (Cluster Potential)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BC1184A-A127-2A3F-ADB3-A52D0F0D6EF1}"/>
              </a:ext>
            </a:extLst>
          </p:cNvPr>
          <p:cNvGrpSpPr/>
          <p:nvPr/>
        </p:nvGrpSpPr>
        <p:grpSpPr>
          <a:xfrm>
            <a:off x="6149532" y="3505744"/>
            <a:ext cx="2416508" cy="1873114"/>
            <a:chOff x="4198822" y="3978708"/>
            <a:chExt cx="2416508" cy="1873114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BBEEC34-E041-41D0-C82C-77F5918BF7FD}"/>
                </a:ext>
              </a:extLst>
            </p:cNvPr>
            <p:cNvSpPr txBox="1"/>
            <p:nvPr/>
          </p:nvSpPr>
          <p:spPr>
            <a:xfrm>
              <a:off x="4198822" y="3978708"/>
              <a:ext cx="241650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>
                  <a:latin typeface="Swis721 BT" panose="020B0504020202020204" pitchFamily="34" charset="0"/>
                </a:rPr>
                <a:t>Market &amp; Cluster Knowledge Base</a:t>
              </a:r>
            </a:p>
            <a:p>
              <a:pPr algn="ctr"/>
              <a:r>
                <a:rPr lang="en-IN" sz="1200" b="1" dirty="0">
                  <a:latin typeface="Swis721 BT" panose="020B0504020202020204" pitchFamily="34" charset="0"/>
                </a:rPr>
                <a:t>(AI + Rules + Knowledge Base Layer)</a:t>
              </a:r>
              <a:endParaRPr lang="en-IN" sz="1600" b="1" dirty="0">
                <a:latin typeface="Swis721 BT" panose="020B050402020202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DA46C17-3D38-CF6C-0AA2-0F39741F5B48}"/>
                </a:ext>
              </a:extLst>
            </p:cNvPr>
            <p:cNvSpPr/>
            <p:nvPr/>
          </p:nvSpPr>
          <p:spPr>
            <a:xfrm>
              <a:off x="4662809" y="5047810"/>
              <a:ext cx="1522714" cy="80401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Swis721 BT" panose="020B0504020202020204" pitchFamily="34" charset="0"/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F0DB272-F563-941C-CC94-BFC6B4EB47F9}"/>
                </a:ext>
              </a:extLst>
            </p:cNvPr>
            <p:cNvSpPr/>
            <p:nvPr/>
          </p:nvSpPr>
          <p:spPr>
            <a:xfrm>
              <a:off x="4222043" y="4615314"/>
              <a:ext cx="203421" cy="2034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solidFill>
                    <a:sysClr val="windowText" lastClr="000000"/>
                  </a:solidFill>
                  <a:latin typeface="Swis721 BT" panose="020B0504020202020204" pitchFamily="34" charset="0"/>
                </a:rPr>
                <a:t>4</a:t>
              </a:r>
            </a:p>
          </p:txBody>
        </p:sp>
      </p:grp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0C838FC7-CD26-AA3B-5863-A3D6BB536EE1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4105822" y="2109803"/>
            <a:ext cx="722149" cy="5815960"/>
          </a:xfrm>
          <a:prstGeom prst="bentConnector3">
            <a:avLst>
              <a:gd name="adj1" fmla="val 13165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9E12406F-744F-C168-FDD8-27E378718F85}"/>
              </a:ext>
            </a:extLst>
          </p:cNvPr>
          <p:cNvCxnSpPr>
            <a:cxnSpLocks/>
          </p:cNvCxnSpPr>
          <p:nvPr/>
        </p:nvCxnSpPr>
        <p:spPr>
          <a:xfrm>
            <a:off x="10011106" y="719054"/>
            <a:ext cx="0" cy="60014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C4FEE9CE-0342-420B-F097-37CBDEB86AD4}"/>
              </a:ext>
            </a:extLst>
          </p:cNvPr>
          <p:cNvCxnSpPr>
            <a:cxnSpLocks/>
            <a:endCxn id="7" idx="1"/>
          </p:cNvCxnSpPr>
          <p:nvPr/>
        </p:nvCxnSpPr>
        <p:spPr>
          <a:xfrm flipH="1" flipV="1">
            <a:off x="1211709" y="4084840"/>
            <a:ext cx="6924524" cy="892012"/>
          </a:xfrm>
          <a:prstGeom prst="bentConnector5">
            <a:avLst>
              <a:gd name="adj1" fmla="val -24732"/>
              <a:gd name="adj2" fmla="val -186720"/>
              <a:gd name="adj3" fmla="val 101707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D43F7F0A-D97B-EBB5-42D5-62F92BBB9C4D}"/>
              </a:ext>
            </a:extLst>
          </p:cNvPr>
          <p:cNvCxnSpPr>
            <a:cxnSpLocks/>
            <a:endCxn id="63" idx="3"/>
          </p:cNvCxnSpPr>
          <p:nvPr/>
        </p:nvCxnSpPr>
        <p:spPr>
          <a:xfrm flipV="1">
            <a:off x="8136233" y="2325284"/>
            <a:ext cx="121777" cy="2651568"/>
          </a:xfrm>
          <a:prstGeom prst="bentConnector3">
            <a:avLst>
              <a:gd name="adj1" fmla="val 1387954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422E845E-391E-5EC6-8653-BEF7488A2784}"/>
              </a:ext>
            </a:extLst>
          </p:cNvPr>
          <p:cNvCxnSpPr>
            <a:cxnSpLocks/>
            <a:endCxn id="26" idx="0"/>
          </p:cNvCxnSpPr>
          <p:nvPr/>
        </p:nvCxnSpPr>
        <p:spPr>
          <a:xfrm flipH="1" flipV="1">
            <a:off x="4028476" y="1333658"/>
            <a:ext cx="4107757" cy="3643194"/>
          </a:xfrm>
          <a:prstGeom prst="bentConnector4">
            <a:avLst>
              <a:gd name="adj1" fmla="val -5565"/>
              <a:gd name="adj2" fmla="val 106275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tangle 142">
            <a:extLst>
              <a:ext uri="{FF2B5EF4-FFF2-40B4-BE49-F238E27FC236}">
                <a16:creationId xmlns:a16="http://schemas.microsoft.com/office/drawing/2014/main" id="{397E06AD-CE56-AD86-1F0D-25984133A073}"/>
              </a:ext>
            </a:extLst>
          </p:cNvPr>
          <p:cNvSpPr/>
          <p:nvPr/>
        </p:nvSpPr>
        <p:spPr>
          <a:xfrm>
            <a:off x="8928523" y="5952274"/>
            <a:ext cx="608958" cy="1997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Swis721 BT" panose="020B0504020202020204" pitchFamily="34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AC0DC03-C468-0661-BC9B-58D9A48AA142}"/>
              </a:ext>
            </a:extLst>
          </p:cNvPr>
          <p:cNvSpPr txBox="1"/>
          <p:nvPr/>
        </p:nvSpPr>
        <p:spPr>
          <a:xfrm>
            <a:off x="3748481" y="4783587"/>
            <a:ext cx="1830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latin typeface="Swis721 BT" panose="020B0504020202020204" pitchFamily="34" charset="0"/>
              </a:rPr>
              <a:t>Cluster potential, engagement plan recommendations, sales enablers</a:t>
            </a:r>
          </a:p>
        </p:txBody>
      </p:sp>
      <p:sp>
        <p:nvSpPr>
          <p:cNvPr id="2" name="Isosceles Triangle 1">
            <a:hlinkClick r:id="rId4" action="ppaction://hlinksldjump"/>
            <a:extLst>
              <a:ext uri="{FF2B5EF4-FFF2-40B4-BE49-F238E27FC236}">
                <a16:creationId xmlns:a16="http://schemas.microsoft.com/office/drawing/2014/main" id="{8A31AF50-DC59-9DE8-CA04-5966D59DD982}"/>
              </a:ext>
            </a:extLst>
          </p:cNvPr>
          <p:cNvSpPr/>
          <p:nvPr/>
        </p:nvSpPr>
        <p:spPr>
          <a:xfrm rot="5400000">
            <a:off x="1947631" y="3248033"/>
            <a:ext cx="178240" cy="153654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wis721 BT" panose="020B0504020202020204" pitchFamily="34" charset="0"/>
            </a:endParaRPr>
          </a:p>
        </p:txBody>
      </p:sp>
      <p:sp>
        <p:nvSpPr>
          <p:cNvPr id="3" name="Isosceles Triangle 2">
            <a:hlinkClick r:id="rId5" action="ppaction://hlinksldjump"/>
            <a:extLst>
              <a:ext uri="{FF2B5EF4-FFF2-40B4-BE49-F238E27FC236}">
                <a16:creationId xmlns:a16="http://schemas.microsoft.com/office/drawing/2014/main" id="{F286E850-D334-5CD9-A5ED-D0A09C83F5C4}"/>
              </a:ext>
            </a:extLst>
          </p:cNvPr>
          <p:cNvSpPr/>
          <p:nvPr/>
        </p:nvSpPr>
        <p:spPr>
          <a:xfrm rot="5400000">
            <a:off x="4808075" y="1427778"/>
            <a:ext cx="178240" cy="153654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wis721 BT" panose="020B0504020202020204" pitchFamily="34" charset="0"/>
            </a:endParaRPr>
          </a:p>
        </p:txBody>
      </p:sp>
      <p:sp>
        <p:nvSpPr>
          <p:cNvPr id="4" name="Isosceles Triangle 3">
            <a:hlinkClick r:id="rId6" action="ppaction://hlinksldjump"/>
            <a:extLst>
              <a:ext uri="{FF2B5EF4-FFF2-40B4-BE49-F238E27FC236}">
                <a16:creationId xmlns:a16="http://schemas.microsoft.com/office/drawing/2014/main" id="{22779E11-B79C-0691-4F72-687836338D31}"/>
              </a:ext>
            </a:extLst>
          </p:cNvPr>
          <p:cNvSpPr/>
          <p:nvPr/>
        </p:nvSpPr>
        <p:spPr>
          <a:xfrm rot="5400000">
            <a:off x="8597565" y="1388789"/>
            <a:ext cx="178240" cy="153654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wis721 BT" panose="020B0504020202020204" pitchFamily="34" charset="0"/>
            </a:endParaRPr>
          </a:p>
        </p:txBody>
      </p:sp>
      <p:sp>
        <p:nvSpPr>
          <p:cNvPr id="15" name="Isosceles Triangle 14">
            <a:hlinkClick r:id="rId7" action="ppaction://hlinksldjump"/>
            <a:extLst>
              <a:ext uri="{FF2B5EF4-FFF2-40B4-BE49-F238E27FC236}">
                <a16:creationId xmlns:a16="http://schemas.microsoft.com/office/drawing/2014/main" id="{5B6E6462-C3CD-8CBF-E824-93E2B19EBA76}"/>
              </a:ext>
            </a:extLst>
          </p:cNvPr>
          <p:cNvSpPr/>
          <p:nvPr/>
        </p:nvSpPr>
        <p:spPr>
          <a:xfrm rot="5400000">
            <a:off x="8369820" y="4171074"/>
            <a:ext cx="178240" cy="153654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wis721 BT" panose="020B0504020202020204" pitchFamily="34" charset="0"/>
            </a:endParaRPr>
          </a:p>
        </p:txBody>
      </p:sp>
      <p:sp>
        <p:nvSpPr>
          <p:cNvPr id="16" name="Isosceles Triangle 15">
            <a:hlinkClick r:id="rId8" action="ppaction://hlinksldjump"/>
            <a:extLst>
              <a:ext uri="{FF2B5EF4-FFF2-40B4-BE49-F238E27FC236}">
                <a16:creationId xmlns:a16="http://schemas.microsoft.com/office/drawing/2014/main" id="{4A0921AF-CB02-B6CB-B701-5025B382BCEF}"/>
              </a:ext>
            </a:extLst>
          </p:cNvPr>
          <p:cNvSpPr/>
          <p:nvPr/>
        </p:nvSpPr>
        <p:spPr>
          <a:xfrm rot="5400000">
            <a:off x="11951868" y="3433651"/>
            <a:ext cx="178240" cy="153654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wis721 BT" panose="020B0504020202020204" pitchFamily="34" charset="0"/>
            </a:endParaRPr>
          </a:p>
        </p:txBody>
      </p:sp>
      <p:sp>
        <p:nvSpPr>
          <p:cNvPr id="17" name="Isosceles Triangle 16">
            <a:hlinkClick r:id="rId9" action="ppaction://hlinksldjump"/>
            <a:extLst>
              <a:ext uri="{FF2B5EF4-FFF2-40B4-BE49-F238E27FC236}">
                <a16:creationId xmlns:a16="http://schemas.microsoft.com/office/drawing/2014/main" id="{7A694215-A405-EB33-8E24-90AB39B61120}"/>
              </a:ext>
            </a:extLst>
          </p:cNvPr>
          <p:cNvSpPr/>
          <p:nvPr/>
        </p:nvSpPr>
        <p:spPr>
          <a:xfrm rot="5400000">
            <a:off x="9596668" y="5871977"/>
            <a:ext cx="178240" cy="153654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Swis721 BT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205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D8A3F82-214E-AF0A-BC24-A57664BFD2A6}"/>
              </a:ext>
            </a:extLst>
          </p:cNvPr>
          <p:cNvSpPr txBox="1"/>
          <p:nvPr/>
        </p:nvSpPr>
        <p:spPr>
          <a:xfrm>
            <a:off x="3084424" y="900839"/>
            <a:ext cx="898240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sz="12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Goal (what it does):</a:t>
            </a:r>
            <a:br>
              <a:rPr lang="en-IN" sz="12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200" dirty="0"/>
              <a:t>For Demand Generators to discover the market potential in their area and systematically engage with local customer groups</a:t>
            </a:r>
            <a:b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en-IN" sz="1200" kern="100" dirty="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2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What it contains?</a:t>
            </a:r>
            <a:endParaRPr lang="en-IN" sz="1200" kern="100" dirty="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47675" indent="-180975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Market Potential Mapping – List of top clusters in the area (their potential, competitive strength, ease of sales)</a:t>
            </a:r>
          </a:p>
          <a:p>
            <a:pPr marL="447675" indent="-180975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Cluster Engagement Plan – Customer Groups, Value Proposition, contribution events recommendation)</a:t>
            </a:r>
          </a:p>
          <a:p>
            <a:pPr marL="447675" indent="-180975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Customer Sales Enablement – enablers at each stage of the sale in the form of pamphlets, decks, customized action points (from identification, contacting, proposing solutions, closing the sale to </a:t>
            </a:r>
            <a:r>
              <a:rPr lang="en-IN" sz="1200" kern="100" dirty="0" err="1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followup</a:t>
            </a: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marL="447675" indent="-180975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Cluster potential report</a:t>
            </a:r>
          </a:p>
          <a:p>
            <a:pPr marL="447675" indent="-180975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Cluster engagement report</a:t>
            </a:r>
            <a:b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en-IN" sz="1200" b="1" kern="100" dirty="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n-IN" sz="12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Measures / Outcomes:</a:t>
            </a:r>
            <a:endParaRPr lang="en-IN" sz="1200" kern="100" dirty="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Access level of the DG in a cluster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Overall market potential in a cluster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Action plans for cluster engagements (planning camps &amp; events, capturing contacts of contractors, retailers, stakeholders of that cluster)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Enablers used for a prospect sale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Sales engagement happenings</a:t>
            </a:r>
            <a:b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en-IN" sz="1200" kern="100" dirty="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n-IN" sz="12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Operational Protocols:</a:t>
            </a:r>
            <a:endParaRPr lang="en-IN" sz="1200" kern="100" dirty="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DG uses the app on a regular basis to explore / untap the potential of cluster in the area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DG to mark their access level for the clusters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DG to prioritize going after top potential x access level clusters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Create a cluster engagement plan along with the ASM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Make use of the sales enablers to go after prospects in a cluster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BE58E3-B061-9BD2-E731-F6CE63DEFDC8}"/>
              </a:ext>
            </a:extLst>
          </p:cNvPr>
          <p:cNvSpPr txBox="1"/>
          <p:nvPr/>
        </p:nvSpPr>
        <p:spPr>
          <a:xfrm>
            <a:off x="114301" y="18943"/>
            <a:ext cx="898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Swis721 BT" panose="020B0504020202020204" pitchFamily="34" charset="0"/>
              </a:rPr>
              <a:t>DG App</a:t>
            </a:r>
          </a:p>
        </p:txBody>
      </p:sp>
    </p:spTree>
    <p:extLst>
      <p:ext uri="{BB962C8B-B14F-4D97-AF65-F5344CB8AC3E}">
        <p14:creationId xmlns:p14="http://schemas.microsoft.com/office/powerpoint/2010/main" val="3100879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349B0A8-A3AE-FA82-73DE-B667F9B80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18752B-3656-1B36-32DC-CFDFDF3EA34D}"/>
              </a:ext>
            </a:extLst>
          </p:cNvPr>
          <p:cNvSpPr txBox="1"/>
          <p:nvPr/>
        </p:nvSpPr>
        <p:spPr>
          <a:xfrm>
            <a:off x="6096000" y="582067"/>
            <a:ext cx="50673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Swis721 BT" panose="020B0504020202020204" pitchFamily="34" charset="0"/>
              </a:rPr>
              <a:t>1. Objective / Goal (what it does):</a:t>
            </a:r>
            <a:endParaRPr lang="en-US" sz="12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Swis721 BT" panose="020B0504020202020204" pitchFamily="34" charset="0"/>
              </a:rPr>
              <a:t>Help ASMs identify where DGs are concentrating their efforts, assess cluster-level priorities, and measure the progress and effectiveness of co-created cluster engagement plans</a:t>
            </a:r>
            <a:br>
              <a:rPr lang="en-IN" sz="1200" dirty="0">
                <a:latin typeface="Swis721 BT" panose="020B0504020202020204" pitchFamily="34" charset="0"/>
              </a:rPr>
            </a:br>
            <a:endParaRPr lang="en-US" sz="1200" dirty="0">
              <a:latin typeface="Swis721 BT" panose="020B0504020202020204" pitchFamily="34" charset="0"/>
            </a:endParaRPr>
          </a:p>
          <a:p>
            <a:r>
              <a:rPr lang="en-IN" sz="1200" b="1" dirty="0">
                <a:latin typeface="Swis721 BT" panose="020B0504020202020204" pitchFamily="34" charset="0"/>
              </a:rPr>
              <a:t>2. What it contains? (product concept):</a:t>
            </a:r>
            <a:endParaRPr lang="en-US" sz="1200" dirty="0">
              <a:latin typeface="Swis721 BT" panose="020B0504020202020204" pitchFamily="34" charset="0"/>
            </a:endParaRP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effectLst/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Top market clusters (in terms of potential &amp; access) in the area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What are DGs prioritizing as clusters?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effectLst/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Penetration level progress at each cluster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dirty="0">
                <a:latin typeface="Swis721 BT" panose="020B0504020202020204" pitchFamily="34" charset="0"/>
              </a:rPr>
              <a:t>Consolidated &amp; individual cluster reports generated by DGs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dirty="0">
                <a:latin typeface="Swis721 BT" panose="020B0504020202020204" pitchFamily="34" charset="0"/>
              </a:rPr>
              <a:t>Consolidated &amp; individual cluster engagement plans co-created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dirty="0">
                <a:latin typeface="Swis721 BT" panose="020B0504020202020204" pitchFamily="34" charset="0"/>
              </a:rPr>
              <a:t>Effectiveness of engagement plans co-created</a:t>
            </a:r>
            <a:br>
              <a:rPr lang="en-IN" sz="1200" dirty="0">
                <a:latin typeface="Swis721 BT" panose="020B0504020202020204" pitchFamily="34" charset="0"/>
              </a:rPr>
            </a:br>
            <a:endParaRPr lang="en-IN" sz="1200" dirty="0">
              <a:latin typeface="Swis721 BT" panose="020B0504020202020204" pitchFamily="34" charset="0"/>
            </a:endParaRPr>
          </a:p>
          <a:p>
            <a:r>
              <a:rPr lang="en-IN" sz="1200" b="1" dirty="0">
                <a:latin typeface="Swis721 BT" panose="020B0504020202020204" pitchFamily="34" charset="0"/>
              </a:rPr>
              <a:t>3. </a:t>
            </a:r>
            <a:r>
              <a:rPr lang="en-IN" sz="12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Measures / Outcomes </a:t>
            </a:r>
            <a:r>
              <a:rPr lang="en-IN" sz="1200" b="1" dirty="0">
                <a:latin typeface="Swis721 BT" panose="020B0504020202020204" pitchFamily="34" charset="0"/>
              </a:rPr>
              <a:t>:</a:t>
            </a:r>
            <a:endParaRPr lang="en-US" sz="1200" dirty="0">
              <a:latin typeface="Swis721 BT" panose="020B0504020202020204" pitchFamily="34" charset="0"/>
            </a:endParaRP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High potential – high access clusters in the area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cs typeface="Arial" panose="020B0604020202020204" pitchFamily="34" charset="0"/>
              </a:rPr>
              <a:t>% of DGs prioritizing each cluster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cs typeface="Arial" panose="020B0604020202020204" pitchFamily="34" charset="0"/>
              </a:rPr>
              <a:t>% of DGs prioritizing each cluster type (such as HP – HA, HP – </a:t>
            </a:r>
            <a:r>
              <a:rPr lang="en-IN" sz="1200" kern="100" dirty="0" err="1">
                <a:latin typeface="Swis721 BT" panose="020B0504020202020204" pitchFamily="34" charset="0"/>
                <a:cs typeface="Arial" panose="020B0604020202020204" pitchFamily="34" charset="0"/>
              </a:rPr>
              <a:t>LA.,etc</a:t>
            </a:r>
            <a:r>
              <a:rPr lang="en-IN" sz="1200" kern="100" dirty="0">
                <a:latin typeface="Swis721 BT" panose="020B0504020202020204" pitchFamily="34" charset="0"/>
                <a:cs typeface="Arial" panose="020B0604020202020204" pitchFamily="34" charset="0"/>
              </a:rPr>
              <a:t>)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cs typeface="Arial" panose="020B0604020202020204" pitchFamily="34" charset="0"/>
              </a:rPr>
              <a:t>DG-wise execution strategy status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cs typeface="Arial" panose="020B0604020202020204" pitchFamily="34" charset="0"/>
              </a:rPr>
              <a:t>Where do DGs stand in the sales funnel?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cs typeface="Arial" panose="020B0604020202020204" pitchFamily="34" charset="0"/>
              </a:rPr>
              <a:t>Penetration % and MoM % increase at each cluster level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200" kern="100" dirty="0">
                <a:latin typeface="Swis721 BT" panose="020B0504020202020204" pitchFamily="34" charset="0"/>
                <a:cs typeface="Arial" panose="020B0604020202020204" pitchFamily="34" charset="0"/>
              </a:rPr>
              <a:t>% conversion from cluster engagement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42014C-A310-EF89-9FC2-5249041F8145}"/>
              </a:ext>
            </a:extLst>
          </p:cNvPr>
          <p:cNvSpPr txBox="1"/>
          <p:nvPr/>
        </p:nvSpPr>
        <p:spPr>
          <a:xfrm>
            <a:off x="452188" y="141513"/>
            <a:ext cx="898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latin typeface="Swis721 BT" panose="020B0504020202020204" pitchFamily="34" charset="0"/>
              </a:rPr>
              <a:t>ASM Analytics Dashboard</a:t>
            </a:r>
          </a:p>
        </p:txBody>
      </p:sp>
      <p:sp>
        <p:nvSpPr>
          <p:cNvPr id="3" name="Multiplication Sign 2">
            <a:hlinkClick r:id="rId2" action="ppaction://hlinksldjump"/>
            <a:extLst>
              <a:ext uri="{FF2B5EF4-FFF2-40B4-BE49-F238E27FC236}">
                <a16:creationId xmlns:a16="http://schemas.microsoft.com/office/drawing/2014/main" id="{ABC7F30A-EA17-CBD1-8AA6-C2AE525A26D8}"/>
              </a:ext>
            </a:extLst>
          </p:cNvPr>
          <p:cNvSpPr/>
          <p:nvPr/>
        </p:nvSpPr>
        <p:spPr>
          <a:xfrm>
            <a:off x="11551568" y="6489495"/>
            <a:ext cx="500743" cy="32979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C00000"/>
              </a:highlight>
              <a:latin typeface="Swis721 BT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729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E11BB01-39DF-B74D-716F-150C970FF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78C6F9A-87CF-E3FC-CB49-F54254AC8620}"/>
              </a:ext>
            </a:extLst>
          </p:cNvPr>
          <p:cNvSpPr txBox="1"/>
          <p:nvPr/>
        </p:nvSpPr>
        <p:spPr>
          <a:xfrm>
            <a:off x="5479324" y="649941"/>
            <a:ext cx="6091102" cy="462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sz="1400" b="1" kern="100" dirty="0">
                <a:effectLst/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Objective / Goal (what it does):</a:t>
            </a:r>
            <a:endParaRPr lang="en-IN" sz="1400" kern="100" dirty="0">
              <a:effectLst/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4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 give the leadership a view into top market clusters and enable them to strategize market penetration with the help of the sales teams</a:t>
            </a:r>
            <a:endParaRPr lang="en-IN" sz="1400" kern="100" dirty="0">
              <a:effectLst/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lvl="1"/>
            <a:endParaRPr lang="en-IN" sz="1400" kern="100" dirty="0">
              <a:effectLst/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400" b="1" kern="100" dirty="0">
                <a:effectLst/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What it contains? (product concept):</a:t>
            </a:r>
            <a:endParaRPr lang="en-IN" sz="1400" kern="100" dirty="0">
              <a:effectLst/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400" kern="100" dirty="0">
                <a:effectLst/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Top market clusters (in terms of potential &amp; access)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4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What are ASMs &amp; DGs prioritizing as clusters?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400" kern="100" dirty="0">
                <a:effectLst/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Penetration level progress at each cluster</a:t>
            </a:r>
          </a:p>
          <a:p>
            <a:pPr lvl="1"/>
            <a:endParaRPr lang="en-IN" sz="1400" kern="100" dirty="0">
              <a:effectLst/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4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Measures / Outcomes:</a:t>
            </a:r>
            <a:endParaRPr lang="en-IN" sz="1400" kern="100" dirty="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4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High potential – high access clusters across the country, states or regions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400" kern="100" dirty="0">
                <a:latin typeface="Swis721 BT" panose="020B0504020202020204" pitchFamily="34" charset="0"/>
                <a:cs typeface="Arial" panose="020B0604020202020204" pitchFamily="34" charset="0"/>
              </a:rPr>
              <a:t>% of DGs prioritizing each cluster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400" kern="100" dirty="0">
                <a:latin typeface="Swis721 BT" panose="020B0504020202020204" pitchFamily="34" charset="0"/>
                <a:cs typeface="Arial" panose="020B0604020202020204" pitchFamily="34" charset="0"/>
              </a:rPr>
              <a:t>% of DGs prioritizing each cluster type (such as HP – HA, HP – </a:t>
            </a:r>
            <a:r>
              <a:rPr lang="en-IN" sz="1400" kern="100" dirty="0" err="1">
                <a:latin typeface="Swis721 BT" panose="020B0504020202020204" pitchFamily="34" charset="0"/>
                <a:cs typeface="Arial" panose="020B0604020202020204" pitchFamily="34" charset="0"/>
              </a:rPr>
              <a:t>LA.,etc</a:t>
            </a:r>
            <a:r>
              <a:rPr lang="en-IN" sz="1400" kern="100" dirty="0">
                <a:latin typeface="Swis721 BT" panose="020B0504020202020204" pitchFamily="34" charset="0"/>
                <a:cs typeface="Arial" panose="020B0604020202020204" pitchFamily="34" charset="0"/>
              </a:rPr>
              <a:t>)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400" kern="100" dirty="0">
                <a:latin typeface="Swis721 BT" panose="020B0504020202020204" pitchFamily="34" charset="0"/>
                <a:cs typeface="Arial" panose="020B0604020202020204" pitchFamily="34" charset="0"/>
              </a:rPr>
              <a:t>DG-wise execution strategy status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400" kern="100" dirty="0">
                <a:latin typeface="Swis721 BT" panose="020B0504020202020204" pitchFamily="34" charset="0"/>
                <a:cs typeface="Arial" panose="020B0604020202020204" pitchFamily="34" charset="0"/>
              </a:rPr>
              <a:t>Where do DGs stand in the sales funnel?</a:t>
            </a:r>
          </a:p>
          <a:p>
            <a:pPr marL="685800" lvl="1" indent="-228600">
              <a:buFont typeface="Symbol" panose="05050102010706020507" pitchFamily="18" charset="2"/>
              <a:buChar char=""/>
            </a:pPr>
            <a:r>
              <a:rPr lang="en-IN" sz="1400" kern="100" dirty="0">
                <a:latin typeface="Swis721 BT" panose="020B0504020202020204" pitchFamily="34" charset="0"/>
                <a:cs typeface="Arial" panose="020B0604020202020204" pitchFamily="34" charset="0"/>
              </a:rPr>
              <a:t>Penetration % and MoM % increase at each cluster level</a:t>
            </a:r>
          </a:p>
          <a:p>
            <a:pPr lvl="1"/>
            <a:endParaRPr lang="en-IN" sz="1400" kern="100" dirty="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IN" sz="1400" kern="100" dirty="0">
              <a:effectLst/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035D2D-8114-C83A-E54A-C0F2260A2833}"/>
              </a:ext>
            </a:extLst>
          </p:cNvPr>
          <p:cNvSpPr txBox="1"/>
          <p:nvPr/>
        </p:nvSpPr>
        <p:spPr>
          <a:xfrm>
            <a:off x="621574" y="280609"/>
            <a:ext cx="5277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latin typeface="Swis721 BT" panose="020B0504020202020204" pitchFamily="34" charset="0"/>
              </a:rPr>
              <a:t>Leadership Dashboard</a:t>
            </a:r>
          </a:p>
        </p:txBody>
      </p:sp>
      <p:sp>
        <p:nvSpPr>
          <p:cNvPr id="2" name="Multiplication Sign 1">
            <a:hlinkClick r:id="rId2" action="ppaction://hlinksldjump"/>
            <a:extLst>
              <a:ext uri="{FF2B5EF4-FFF2-40B4-BE49-F238E27FC236}">
                <a16:creationId xmlns:a16="http://schemas.microsoft.com/office/drawing/2014/main" id="{C97883AC-485E-97D1-65B4-180A0E8241C0}"/>
              </a:ext>
            </a:extLst>
          </p:cNvPr>
          <p:cNvSpPr/>
          <p:nvPr/>
        </p:nvSpPr>
        <p:spPr>
          <a:xfrm>
            <a:off x="11551568" y="6489495"/>
            <a:ext cx="500743" cy="32979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C00000"/>
              </a:highlight>
              <a:latin typeface="Swis721 BT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940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4B1D154-FF1C-6890-2D84-0F4488248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5D302F7-DA19-4A65-EF3E-DC4F610C79FF}"/>
              </a:ext>
            </a:extLst>
          </p:cNvPr>
          <p:cNvSpPr txBox="1"/>
          <p:nvPr/>
        </p:nvSpPr>
        <p:spPr>
          <a:xfrm>
            <a:off x="621574" y="280609"/>
            <a:ext cx="5277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Swis721 BT" panose="020B0504020202020204" pitchFamily="34" charset="0"/>
              </a:rPr>
              <a:t>Market &amp; Cluster Knowledge Base Layer</a:t>
            </a:r>
          </a:p>
        </p:txBody>
      </p:sp>
      <p:sp>
        <p:nvSpPr>
          <p:cNvPr id="2" name="Multiplication Sign 1">
            <a:hlinkClick r:id="rId3" action="ppaction://hlinksldjump"/>
            <a:extLst>
              <a:ext uri="{FF2B5EF4-FFF2-40B4-BE49-F238E27FC236}">
                <a16:creationId xmlns:a16="http://schemas.microsoft.com/office/drawing/2014/main" id="{06A9EA93-AA75-E6A6-EE09-4E9FF3A738B5}"/>
              </a:ext>
            </a:extLst>
          </p:cNvPr>
          <p:cNvSpPr/>
          <p:nvPr/>
        </p:nvSpPr>
        <p:spPr>
          <a:xfrm>
            <a:off x="11551568" y="6489495"/>
            <a:ext cx="500743" cy="32979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C00000"/>
              </a:highlight>
              <a:latin typeface="Swis721 BT" panose="020B05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12D98E-E173-040E-5C2B-C9FE329E41A9}"/>
              </a:ext>
            </a:extLst>
          </p:cNvPr>
          <p:cNvSpPr txBox="1"/>
          <p:nvPr/>
        </p:nvSpPr>
        <p:spPr>
          <a:xfrm>
            <a:off x="5393263" y="762000"/>
            <a:ext cx="5592237" cy="4175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Swis721 BT" panose="020B0504020202020204" pitchFamily="34" charset="0"/>
              </a:rPr>
              <a:t>1. Objective / Goal (what it does):</a:t>
            </a:r>
            <a:endParaRPr lang="en-US" sz="1200" dirty="0">
              <a:latin typeface="Swis721 BT" panose="020B0504020202020204" pitchFamily="34" charset="0"/>
            </a:endParaRPr>
          </a:p>
          <a:p>
            <a:pPr lvl="1"/>
            <a:r>
              <a:rPr lang="en-IN" sz="1200" dirty="0">
                <a:latin typeface="Swis721 BT" panose="020B0504020202020204" pitchFamily="34" charset="0"/>
              </a:rPr>
              <a:t>The core analytics component in the backend which generates, stores &amp; captures dynamic knowledge intelligence for the market &amp; clusters.</a:t>
            </a:r>
          </a:p>
          <a:p>
            <a:pPr lvl="1"/>
            <a:r>
              <a:rPr lang="en-IN" sz="1200" b="1" dirty="0">
                <a:latin typeface="Swis721 BT" panose="020B0504020202020204" pitchFamily="34" charset="0"/>
              </a:rPr>
              <a:t>	</a:t>
            </a:r>
            <a:endParaRPr lang="en-US" sz="1200" dirty="0">
              <a:latin typeface="Swis721 BT" panose="020B0504020202020204" pitchFamily="34" charset="0"/>
            </a:endParaRPr>
          </a:p>
          <a:p>
            <a:r>
              <a:rPr lang="en-IN" sz="1200" b="1" dirty="0">
                <a:latin typeface="Swis721 BT" panose="020B0504020202020204" pitchFamily="34" charset="0"/>
              </a:rPr>
              <a:t>2. What it contains? (product concept):</a:t>
            </a:r>
            <a:endParaRPr lang="en-US" sz="12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All major clusters in a region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Cluster revenue potential, competitive strength, ease of sale and their sources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Cluster-wise customer groups, value proposition pitch, contribution events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wis721 BT" panose="020B0504020202020204" pitchFamily="34" charset="0"/>
              </a:rPr>
              <a:t>Cluster-wise sales enablers including pamphlets, decks, customized action points; prospects in each sales stage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200" dirty="0">
              <a:latin typeface="Swis721 BT" panose="020B05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12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</a:t>
            </a:r>
            <a:r>
              <a:rPr lang="en-IN" sz="12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Measures / Outcomes</a:t>
            </a: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Cluster access level &amp; overall cluster potential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Contacts like contractors, retailers, other stakeholders </a:t>
            </a:r>
            <a:r>
              <a:rPr lang="en-US" sz="1200" kern="100" dirty="0" err="1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w.r.t.</a:t>
            </a: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specific clusters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DGs targeted customer groups, VP, contribution events planned for cluster engagement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Capture DGs chosen sales enablers 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Effectiveness of the engagement plan &amp; contribution events</a:t>
            </a:r>
            <a:endParaRPr lang="en-IN" sz="1200" dirty="0">
              <a:latin typeface="Swis721 BT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158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04620E6-6746-38FD-8C29-E6429873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F9C961-374B-452C-E43A-CD7554FE2DB6}"/>
              </a:ext>
            </a:extLst>
          </p:cNvPr>
          <p:cNvSpPr txBox="1"/>
          <p:nvPr/>
        </p:nvSpPr>
        <p:spPr>
          <a:xfrm>
            <a:off x="648967" y="1060659"/>
            <a:ext cx="10150084" cy="335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400" b="1" dirty="0">
                <a:latin typeface="Swis721 BT" panose="020B0504020202020204" pitchFamily="34" charset="0"/>
              </a:rPr>
              <a:t>Objective / Goal (what it does):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Swis721 BT" panose="020B0504020202020204" pitchFamily="34" charset="0"/>
              </a:rPr>
              <a:t>To use the knowledge base layer to provide actionable recommendations to conduct contribution events &amp; execute sales effectively for DGs and enable ASMs to nudge the DGs</a:t>
            </a:r>
          </a:p>
          <a:p>
            <a:pPr lvl="1"/>
            <a:r>
              <a:rPr lang="en-IN" sz="1400" b="1" dirty="0">
                <a:latin typeface="Swis721 BT" panose="020B0504020202020204" pitchFamily="34" charset="0"/>
              </a:rPr>
              <a:t>	</a:t>
            </a:r>
            <a:endParaRPr lang="en-US" sz="1400" dirty="0">
              <a:latin typeface="Swis721 BT" panose="020B0504020202020204" pitchFamily="34" charset="0"/>
            </a:endParaRPr>
          </a:p>
          <a:p>
            <a:r>
              <a:rPr lang="en-IN" sz="1400" b="1" dirty="0">
                <a:latin typeface="Swis721 BT" panose="020B0504020202020204" pitchFamily="34" charset="0"/>
              </a:rPr>
              <a:t>2. What it contains? (product concept):</a:t>
            </a:r>
            <a:endParaRPr lang="en-US" sz="14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Swis721 BT" panose="020B0504020202020204" pitchFamily="34" charset="0"/>
              </a:rPr>
              <a:t>Nudge engine provides how to effectively execute the engagement plans devised by the DGs; provide triggers to get through the sales cycle with necessary nudges along the way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Swis721 BT" panose="020B0504020202020204" pitchFamily="34" charset="0"/>
              </a:rPr>
              <a:t>ASM nudges with area level recommendations in targeting specific clusters for a week for their DGs</a:t>
            </a:r>
            <a:endParaRPr lang="en-US" sz="1400" dirty="0">
              <a:solidFill>
                <a:prstClr val="black"/>
              </a:solidFill>
              <a:latin typeface="Swis721 BT" panose="020B0504020202020204" pitchFamily="34" charset="0"/>
            </a:endParaRP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400" dirty="0">
              <a:solidFill>
                <a:prstClr val="black"/>
              </a:solidFill>
              <a:latin typeface="Swis721 BT" panose="020B05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14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 </a:t>
            </a:r>
            <a:r>
              <a:rPr lang="en-IN" sz="14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Measures / Outcomes</a:t>
            </a:r>
            <a:r>
              <a:rPr lang="en-US" sz="14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Best practices nudge - Best execution practices for contribution events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Potential clusters nudge – Providing signals to go after HP – HA clusters on priority basis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Sales nudge – providing necessary nudges at each stage of a prospect sales cycle to execute it effectively</a:t>
            </a:r>
            <a:endParaRPr lang="en-IN" sz="1400" kern="100" dirty="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wis721 BT" panose="020B0504020202020204" pitchFamily="34" charset="0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400" dirty="0">
              <a:latin typeface="Swis721 BT" panose="020B05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338508-76F2-ABCC-674D-66C146D4A9D1}"/>
              </a:ext>
            </a:extLst>
          </p:cNvPr>
          <p:cNvSpPr txBox="1"/>
          <p:nvPr/>
        </p:nvSpPr>
        <p:spPr>
          <a:xfrm>
            <a:off x="114301" y="432600"/>
            <a:ext cx="898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latin typeface="Swis721 BT" panose="020B0504020202020204" pitchFamily="34" charset="0"/>
              </a:rPr>
              <a:t>Nudges/Campaigns</a:t>
            </a:r>
          </a:p>
        </p:txBody>
      </p:sp>
      <p:sp>
        <p:nvSpPr>
          <p:cNvPr id="5" name="Multiplication Sign 4">
            <a:hlinkClick r:id="rId2" action="ppaction://hlinksldjump"/>
            <a:extLst>
              <a:ext uri="{FF2B5EF4-FFF2-40B4-BE49-F238E27FC236}">
                <a16:creationId xmlns:a16="http://schemas.microsoft.com/office/drawing/2014/main" id="{16D0E9EE-8EE8-DC1A-9019-428455D1C7DE}"/>
              </a:ext>
            </a:extLst>
          </p:cNvPr>
          <p:cNvSpPr/>
          <p:nvPr/>
        </p:nvSpPr>
        <p:spPr>
          <a:xfrm>
            <a:off x="11702142" y="6548370"/>
            <a:ext cx="500743" cy="32979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C00000"/>
              </a:highlight>
              <a:latin typeface="Swis721 BT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429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107A1DA-3157-3594-3222-2421C57F8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D13F2F-97F6-9D8B-C345-41CB009BBC9A}"/>
              </a:ext>
            </a:extLst>
          </p:cNvPr>
          <p:cNvSpPr txBox="1"/>
          <p:nvPr/>
        </p:nvSpPr>
        <p:spPr>
          <a:xfrm>
            <a:off x="1512644" y="752665"/>
            <a:ext cx="9166711" cy="416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Swis721 BT" panose="020B0504020202020204" pitchFamily="34" charset="0"/>
              </a:rPr>
              <a:t>1. Objective / Goal (what it does):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Swis721 BT" panose="020B0504020202020204" pitchFamily="34" charset="0"/>
              </a:rPr>
              <a:t>To ensure Market Discovery System itself evolves based on field reality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Swis721 BT" panose="020B0504020202020204" pitchFamily="34" charset="0"/>
              </a:rPr>
              <a:t>Continuously refine the cluster engagement plan, triggers for contribution events, pamphlets, decks provided, sales enablers based on its effectiveness in the engagement.</a:t>
            </a:r>
          </a:p>
          <a:p>
            <a:pPr lvl="2"/>
            <a:endParaRPr lang="en-US" sz="1400" dirty="0">
              <a:latin typeface="Swis721 BT" panose="020B0504020202020204" pitchFamily="34" charset="0"/>
            </a:endParaRPr>
          </a:p>
          <a:p>
            <a:r>
              <a:rPr lang="en-IN" sz="1400" b="1" dirty="0">
                <a:latin typeface="Swis721 BT" panose="020B0504020202020204" pitchFamily="34" charset="0"/>
              </a:rPr>
              <a:t>2. What it contains? (product concept):</a:t>
            </a:r>
            <a:endParaRPr lang="en-US" sz="1400" dirty="0">
              <a:latin typeface="Swis721 BT" panose="020B05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Swis721 BT" panose="020B0504020202020204" pitchFamily="34" charset="0"/>
              </a:rPr>
              <a:t>Engagement &amp; enablers performance review engine: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Swis721 BT" panose="020B0504020202020204" pitchFamily="34" charset="0"/>
              </a:rPr>
              <a:t>How are pamphlets, deck., </a:t>
            </a:r>
            <a:r>
              <a:rPr lang="en-US" sz="1400" dirty="0" err="1">
                <a:latin typeface="Swis721 BT" panose="020B0504020202020204" pitchFamily="34" charset="0"/>
              </a:rPr>
              <a:t>etc</a:t>
            </a:r>
            <a:r>
              <a:rPr lang="en-US" sz="1400" dirty="0">
                <a:latin typeface="Swis721 BT" panose="020B0504020202020204" pitchFamily="34" charset="0"/>
              </a:rPr>
              <a:t> being used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Swis721 BT" panose="020B0504020202020204" pitchFamily="34" charset="0"/>
              </a:rPr>
              <a:t>Gaps in cluster engagement plan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Swis721 BT" panose="020B0504020202020204" pitchFamily="34" charset="0"/>
              </a:rPr>
              <a:t>How are sales enablers aiding in moving prospects</a:t>
            </a:r>
          </a:p>
          <a:p>
            <a:pPr lvl="1"/>
            <a:endParaRPr lang="en-US" sz="1400" dirty="0">
              <a:latin typeface="Swis721 BT" panose="020B05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14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 </a:t>
            </a:r>
            <a:r>
              <a:rPr lang="en-IN" sz="14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Measures / Outcomes</a:t>
            </a:r>
            <a:r>
              <a:rPr lang="en-US" sz="1400" b="1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4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Design effectiveness measures</a:t>
            </a:r>
          </a:p>
          <a:p>
            <a:pPr marL="1200150" lvl="2" indent="-285750">
              <a:lnSpc>
                <a:spcPct val="115000"/>
              </a:lnSpc>
              <a:buFont typeface="+mj-lt"/>
              <a:buAutoNum type="romanLcPeriod"/>
            </a:pPr>
            <a:r>
              <a:rPr lang="en-US" sz="14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Overall cluster potential vs ease of cluster engagement &amp; sales</a:t>
            </a:r>
          </a:p>
          <a:p>
            <a:pPr marL="1200150" lvl="2" indent="-285750">
              <a:lnSpc>
                <a:spcPct val="115000"/>
              </a:lnSpc>
              <a:buFont typeface="+mj-lt"/>
              <a:buAutoNum type="romanLcPeriod"/>
            </a:pPr>
            <a:r>
              <a:rPr lang="en-US" sz="14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Customer cluster engagement plan effectiveness</a:t>
            </a:r>
          </a:p>
          <a:p>
            <a:pPr marL="1200150" lvl="2" indent="-285750">
              <a:lnSpc>
                <a:spcPct val="115000"/>
              </a:lnSpc>
              <a:buFont typeface="+mj-lt"/>
              <a:buAutoNum type="romanLcPeriod"/>
            </a:pPr>
            <a:r>
              <a:rPr lang="en-US" sz="1400" kern="100" dirty="0">
                <a:latin typeface="Swis721 BT" panose="020B05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Sales enablers effectiveness</a:t>
            </a:r>
          </a:p>
          <a:p>
            <a:pPr lvl="2">
              <a:lnSpc>
                <a:spcPct val="115000"/>
              </a:lnSpc>
            </a:pPr>
            <a:endParaRPr lang="en-US" sz="1400" kern="100" dirty="0">
              <a:latin typeface="Swis721 BT" panose="020B05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lvl="1"/>
            <a:endParaRPr lang="en-US" sz="1400" dirty="0">
              <a:latin typeface="Swis721 BT" panose="020B05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990F01-F1CB-FDEC-6DF7-48426DFB84A7}"/>
              </a:ext>
            </a:extLst>
          </p:cNvPr>
          <p:cNvSpPr txBox="1"/>
          <p:nvPr/>
        </p:nvSpPr>
        <p:spPr>
          <a:xfrm>
            <a:off x="130067" y="211883"/>
            <a:ext cx="8982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latin typeface="Swis721 BT" panose="020B0504020202020204" pitchFamily="34" charset="0"/>
              </a:rPr>
              <a:t>Continuous Evolution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575C79-280C-280F-EC32-21430DA0EBAB}"/>
              </a:ext>
            </a:extLst>
          </p:cNvPr>
          <p:cNvSpPr txBox="1"/>
          <p:nvPr/>
        </p:nvSpPr>
        <p:spPr>
          <a:xfrm>
            <a:off x="12366701" y="1519350"/>
            <a:ext cx="3420303" cy="2537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IN" sz="1400" b="1">
                <a:latin typeface="Swis721 BT" panose="020B0504020202020204" pitchFamily="34" charset="0"/>
              </a:rPr>
              <a:t>4. </a:t>
            </a:r>
            <a:r>
              <a:rPr lang="en-US" sz="1400" b="1">
                <a:latin typeface="Swis721 BT" panose="020B0504020202020204" pitchFamily="34" charset="0"/>
              </a:rPr>
              <a:t>Interaction with other components of the system: 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Swis721 BT" panose="020B0504020202020204" pitchFamily="34" charset="0"/>
              </a:rPr>
              <a:t>Retailer Intelligence - extract raw engagement performance data; send updated engagement units, revised objection handling logic</a:t>
            </a:r>
          </a:p>
          <a:p>
            <a:pPr marL="628650" lvl="1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Swis721 BT" panose="020B0504020202020204" pitchFamily="34" charset="0"/>
              </a:rPr>
              <a:t>Actionable Improvements -Sends improvement triggers and redesign nudges.</a:t>
            </a:r>
          </a:p>
          <a:p>
            <a:endParaRPr lang="en-US" sz="1400">
              <a:latin typeface="Swis721 BT" panose="020B0504020202020204" pitchFamily="34" charset="0"/>
            </a:endParaRPr>
          </a:p>
        </p:txBody>
      </p:sp>
      <p:sp>
        <p:nvSpPr>
          <p:cNvPr id="5" name="Multiplication Sign 4">
            <a:hlinkClick r:id="rId2" action="ppaction://hlinksldjump"/>
            <a:extLst>
              <a:ext uri="{FF2B5EF4-FFF2-40B4-BE49-F238E27FC236}">
                <a16:creationId xmlns:a16="http://schemas.microsoft.com/office/drawing/2014/main" id="{97673F27-A8AE-4AC7-D5B2-E1EA836A1C3D}"/>
              </a:ext>
            </a:extLst>
          </p:cNvPr>
          <p:cNvSpPr/>
          <p:nvPr/>
        </p:nvSpPr>
        <p:spPr>
          <a:xfrm>
            <a:off x="11702142" y="6548370"/>
            <a:ext cx="500743" cy="32979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C00000"/>
              </a:highlight>
              <a:latin typeface="Swis721 BT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874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1436</TotalTime>
  <Words>2732</Words>
  <Application>Microsoft Office PowerPoint</Application>
  <PresentationFormat>Widescreen</PresentationFormat>
  <Paragraphs>295</Paragraphs>
  <Slides>14</Slides>
  <Notes>4</Notes>
  <HiddenSlides>11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Swis721 BT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Srinath V</dc:creator>
  <cp:lastModifiedBy>Srinath V</cp:lastModifiedBy>
  <cp:revision>1</cp:revision>
  <dcterms:created xsi:type="dcterms:W3CDTF">2026-08-28T05:32:40Z</dcterms:created>
  <dcterms:modified xsi:type="dcterms:W3CDTF">2026-08-29T05:29:11Z</dcterms:modified>
</cp:coreProperties>
</file>